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72" r:id="rId3"/>
    <p:sldId id="273" r:id="rId4"/>
    <p:sldId id="275" r:id="rId5"/>
    <p:sldId id="278" r:id="rId6"/>
    <p:sldId id="277" r:id="rId7"/>
    <p:sldId id="276" r:id="rId8"/>
    <p:sldId id="274" r:id="rId9"/>
    <p:sldId id="279" r:id="rId10"/>
    <p:sldId id="280" r:id="rId11"/>
    <p:sldId id="281" r:id="rId12"/>
    <p:sldId id="282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001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412"/>
    <p:restoredTop sz="94338"/>
  </p:normalViewPr>
  <p:slideViewPr>
    <p:cSldViewPr snapToGrid="0">
      <p:cViewPr>
        <p:scale>
          <a:sx n="120" d="100"/>
          <a:sy n="120" d="100"/>
        </p:scale>
        <p:origin x="904" y="16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6042CB-28A2-754D-ACCB-4F0CF49EE203}" type="datetimeFigureOut">
              <a:rPr lang="en-US" smtClean="0"/>
              <a:t>2/26/26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3610D6-285C-CD48-A777-0BA559C510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47559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2AD5E-4BE2-503A-62CF-12C04B9D77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D8299DD-5832-02FC-7ABA-71F9B51997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DE5A05-9F0C-5130-7071-448DF5BF8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0296B3-6EEC-114C-BC37-B0B61E99771B}" type="datetimeFigureOut">
              <a:rPr lang="en-US" smtClean="0"/>
              <a:t>2/26/26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8B0531-6360-8F5F-56E7-36B18C8783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8590E5-CF16-D559-3EEC-AED055BE38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77818-77F0-C44D-972D-EC269C245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4662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1A314B-7013-FFEE-8977-080A60C11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9445A8-2E0A-40A5-292F-4580066E0D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A35F94-D3C1-4F22-C9AF-14D3C08181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0296B3-6EEC-114C-BC37-B0B61E99771B}" type="datetimeFigureOut">
              <a:rPr lang="en-US" smtClean="0"/>
              <a:t>2/26/26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AB5602-0C46-EF89-D514-94A9C1730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A4BCCB-F201-6F0B-88FF-3E9BDEB14B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77818-77F0-C44D-972D-EC269C245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3898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33AF28-C88D-A870-6F92-CE079C002A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D70913-9CD3-6ADC-A320-50E1BD03FB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1C047F-02BE-6EC7-E2CF-1346C78986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0296B3-6EEC-114C-BC37-B0B61E99771B}" type="datetimeFigureOut">
              <a:rPr lang="en-US" smtClean="0"/>
              <a:t>2/26/26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D82E54-0672-5FC0-2EAA-14E4C74CCF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B6663-D60B-D163-2EF1-ED1FC6D3F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77818-77F0-C44D-972D-EC269C245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40027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9DD00-1E5C-A7CF-F4F3-C9A59A559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A6BD92-D32D-391D-B91C-FE38EEB78C8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AE28E6-95F4-EBC2-4C26-19B48C97C8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F6E133-8210-7005-712F-4A2F04A040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0296B3-6EEC-114C-BC37-B0B61E99771B}" type="datetimeFigureOut">
              <a:rPr lang="en-US" smtClean="0"/>
              <a:t>2/26/26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E21C61-1510-BA38-9186-FDF4E70EA4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082DF5-384F-4118-24D1-782A6A27A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77818-77F0-C44D-972D-EC269C245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1368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B0E4AB-B561-527D-F903-C1F230FC9B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5137B4-2319-846E-50AF-52882A4A21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150FE4-CB4B-D6A8-ACCC-77C612A76A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08612A-5CE9-D4BA-DC09-93DEE358256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1AC77CF-5744-8B93-5CD0-2317347B65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86AAC24-C4DC-29E0-CAE9-1D7C8D7916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0296B3-6EEC-114C-BC37-B0B61E99771B}" type="datetimeFigureOut">
              <a:rPr lang="en-US" smtClean="0"/>
              <a:t>2/26/26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81A2FFA-9407-449F-CA8F-50403529B3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016EC76-FACE-4808-7E3E-3072EDFB6E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77818-77F0-C44D-972D-EC269C245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72605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082884-B46C-4B43-5D28-6CC031C4A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3E030A4-8F63-BFF3-E907-16352FCBB7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0296B3-6EEC-114C-BC37-B0B61E99771B}" type="datetimeFigureOut">
              <a:rPr lang="en-US" smtClean="0"/>
              <a:t>2/26/26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B329BE-55C7-D7DA-BAEE-A5A5B2F303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3EC740-C9CC-BB83-4CD6-5E8F87158C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77818-77F0-C44D-972D-EC269C245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2324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E84DEDD-9389-68B5-D9F4-59AFF61809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0296B3-6EEC-114C-BC37-B0B61E99771B}" type="datetimeFigureOut">
              <a:rPr lang="en-US" smtClean="0"/>
              <a:t>2/26/26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A4D0948-7BFA-DB49-3026-6C24D9295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2F6551-23EC-0253-BD1A-5ACB013FF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77818-77F0-C44D-972D-EC269C245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4467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C69C1-7287-EE2E-2708-444A8D68EA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9A1E32-DA8D-956C-66A9-7EDB2C44F7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45186F-A6CE-7AFF-780E-89A2310CA6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292813-E0AF-923C-1439-FFF31A14EF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0296B3-6EEC-114C-BC37-B0B61E99771B}" type="datetimeFigureOut">
              <a:rPr lang="en-US" smtClean="0"/>
              <a:t>2/26/26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FA96FD-B1E9-D962-651C-7833BC1662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F7189B-D9DD-1DB9-3D41-64459BE75D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77818-77F0-C44D-972D-EC269C245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17813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A35C4-45BA-F323-9B43-5266C4A71E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F28D96-575F-B5C0-D669-BF3ADCF78B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A07677B-E76E-427D-DE89-C4ECF0ED8A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4F8E93-1384-3B93-7BD2-36CAB4F12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0296B3-6EEC-114C-BC37-B0B61E99771B}" type="datetimeFigureOut">
              <a:rPr lang="en-US" smtClean="0"/>
              <a:t>2/26/26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0F2EEB-14FD-CCBD-6D2A-A24152DC68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143486-E071-3D22-3A30-B9DD4D86E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77818-77F0-C44D-972D-EC269C245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45856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90C19-5CC0-4731-FEE7-124BAF8EE0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E5F3B8-0744-7C1C-C13E-6BC747F303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BA4608-A174-2368-BAEC-0AEC32C905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0296B3-6EEC-114C-BC37-B0B61E99771B}" type="datetimeFigureOut">
              <a:rPr lang="en-US" smtClean="0"/>
              <a:t>2/26/26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5B2A1D-2F00-7BA3-37A8-884174ADC0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9FB07B-44E5-C6EA-64A1-217D3669A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77818-77F0-C44D-972D-EC269C245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60218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1288AA4-8957-23B6-06DD-E62B2781B1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DC92CD2-36E1-A8F3-9F9F-2680F3E7C7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37C900-0CF5-407A-5DBC-4029D0269A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0296B3-6EEC-114C-BC37-B0B61E99771B}" type="datetimeFigureOut">
              <a:rPr lang="en-US" smtClean="0"/>
              <a:t>2/26/26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749370-0E60-F197-F6E9-F86E55A52F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93962C-7D37-77F9-B747-E3C0F560E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77818-77F0-C44D-972D-EC269C245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60270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0E8756C-2AA5-1DBA-FED6-C53936FB18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7FD389-8F95-6BEC-A6B1-5E2E7A0A30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7DE221-888B-0B67-110F-2CA1CA4D0F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0296B3-6EEC-114C-BC37-B0B61E99771B}" type="datetimeFigureOut">
              <a:rPr lang="en-US" smtClean="0"/>
              <a:t>2/26/26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685D89-5FDA-53BD-E01B-01A33C474E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9E15DE-ACD0-89AD-16C5-61F7D1017C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C77818-77F0-C44D-972D-EC269C245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27237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83E5E-A068-E8F8-77FD-CFABAB2C9E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229620"/>
            <a:ext cx="9144000" cy="3125546"/>
          </a:xfrm>
        </p:spPr>
        <p:txBody>
          <a:bodyPr anchor="ctr">
            <a:normAutofit/>
          </a:bodyPr>
          <a:lstStyle/>
          <a:p>
            <a:r>
              <a:rPr lang="en-US" sz="3600" b="1" dirty="0">
                <a:latin typeface="Arial" panose="020B0604020202020204" pitchFamily="34" charset="0"/>
                <a:cs typeface="Arial" panose="020B0604020202020204" pitchFamily="34" charset="0"/>
              </a:rPr>
              <a:t>Pre-qiime2:</a:t>
            </a:r>
            <a:br>
              <a:rPr lang="en-US" sz="36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3600" b="1" dirty="0">
                <a:latin typeface="Arial" panose="020B0604020202020204" pitchFamily="34" charset="0"/>
                <a:cs typeface="Arial" panose="020B0604020202020204" pitchFamily="34" charset="0"/>
              </a:rPr>
              <a:t>quality control</a:t>
            </a:r>
            <a:br>
              <a:rPr lang="en-US" sz="36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3600" b="1" dirty="0">
                <a:latin typeface="Arial" panose="020B0604020202020204" pitchFamily="34" charset="0"/>
                <a:cs typeface="Arial" panose="020B0604020202020204" pitchFamily="34" charset="0"/>
              </a:rPr>
              <a:t>and removing adapters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2EFC89C-9D57-11EC-151E-F99C83C2C364}"/>
              </a:ext>
            </a:extLst>
          </p:cNvPr>
          <p:cNvSpPr txBox="1">
            <a:spLocks/>
          </p:cNvSpPr>
          <p:nvPr/>
        </p:nvSpPr>
        <p:spPr>
          <a:xfrm>
            <a:off x="4020273" y="4174086"/>
            <a:ext cx="4151453" cy="145011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Sierra Smith</a:t>
            </a:r>
          </a:p>
          <a:p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UPRM qiime2 Workshop</a:t>
            </a:r>
          </a:p>
        </p:txBody>
      </p:sp>
    </p:spTree>
    <p:extLst>
      <p:ext uri="{BB962C8B-B14F-4D97-AF65-F5344CB8AC3E}">
        <p14:creationId xmlns:p14="http://schemas.microsoft.com/office/powerpoint/2010/main" val="39024664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891FA-808F-5C6B-9209-B012268EE4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5D5CB9-5425-1C22-D813-DA6EB22043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Programs Used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1FA0DE2-C5BA-1309-990F-600454E65E70}"/>
              </a:ext>
            </a:extLst>
          </p:cNvPr>
          <p:cNvSpPr txBox="1"/>
          <p:nvPr/>
        </p:nvSpPr>
        <p:spPr>
          <a:xfrm>
            <a:off x="838200" y="1690688"/>
            <a:ext cx="698628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Fastqc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https://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github.com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/s-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andrews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FastQC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Trim_galore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https://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github.com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FelixKrueger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TrimGalore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40629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C59EA2-D2F8-4004-A7E5-A018DB448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CFA298-2652-F65A-4203-3F89E42A68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Programs Used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13FDE7-BDB9-C89D-5E8F-5A73DB63755E}"/>
              </a:ext>
            </a:extLst>
          </p:cNvPr>
          <p:cNvSpPr txBox="1"/>
          <p:nvPr/>
        </p:nvSpPr>
        <p:spPr>
          <a:xfrm>
            <a:off x="838200" y="1690688"/>
            <a:ext cx="698628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Fastqc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https://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github.com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/s-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andrews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FastQC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Trim_galore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https://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github.com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FelixKrueger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TrimGalore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839E902-35EC-B076-1F32-7B648DD6BBC6}"/>
              </a:ext>
            </a:extLst>
          </p:cNvPr>
          <p:cNvSpPr/>
          <p:nvPr/>
        </p:nvSpPr>
        <p:spPr>
          <a:xfrm>
            <a:off x="838200" y="2120970"/>
            <a:ext cx="6986286" cy="13080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A7FB600-930F-841D-CEAA-EB6AE62E0F9B}"/>
              </a:ext>
            </a:extLst>
          </p:cNvPr>
          <p:cNvCxnSpPr>
            <a:cxnSpLocks/>
          </p:cNvCxnSpPr>
          <p:nvPr/>
        </p:nvCxnSpPr>
        <p:spPr>
          <a:xfrm flipH="1">
            <a:off x="10993193" y="1329503"/>
            <a:ext cx="128788" cy="722369"/>
          </a:xfrm>
          <a:prstGeom prst="straightConnector1">
            <a:avLst/>
          </a:prstGeom>
          <a:ln w="38100">
            <a:solidFill>
              <a:schemeClr val="accent4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0244470-67BF-D8A2-C6C5-E2AF2EED3A7C}"/>
              </a:ext>
            </a:extLst>
          </p:cNvPr>
          <p:cNvSpPr txBox="1"/>
          <p:nvPr/>
        </p:nvSpPr>
        <p:spPr>
          <a:xfrm>
            <a:off x="10430926" y="929393"/>
            <a:ext cx="13821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Sample ID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92B117D-1B30-67B7-D455-DD4253C60943}"/>
              </a:ext>
            </a:extLst>
          </p:cNvPr>
          <p:cNvSpPr txBox="1"/>
          <p:nvPr/>
        </p:nvSpPr>
        <p:spPr>
          <a:xfrm>
            <a:off x="3258355" y="1688233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Raw reads</a:t>
            </a:r>
          </a:p>
        </p:txBody>
      </p:sp>
      <p:pic>
        <p:nvPicPr>
          <p:cNvPr id="13" name="Picture 12" descr="A screenshot of a graph&#10;&#10;AI-generated content may be incorrect.">
            <a:extLst>
              <a:ext uri="{FF2B5EF4-FFF2-40B4-BE49-F238E27FC236}">
                <a16:creationId xmlns:a16="http://schemas.microsoft.com/office/drawing/2014/main" id="{4BF7A5EC-2CAE-C886-26AC-316EB3F0556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67"/>
          <a:stretch>
            <a:fillRect/>
          </a:stretch>
        </p:blipFill>
        <p:spPr>
          <a:xfrm>
            <a:off x="3348507" y="2084499"/>
            <a:ext cx="8357846" cy="4187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16407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7B2167-163E-BAC5-1C8C-E67C1B103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D952B6-0441-0188-FB6F-9950017FE8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Programs Used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E7B77F-EA28-4261-C1FB-C08E4303548A}"/>
              </a:ext>
            </a:extLst>
          </p:cNvPr>
          <p:cNvSpPr txBox="1"/>
          <p:nvPr/>
        </p:nvSpPr>
        <p:spPr>
          <a:xfrm>
            <a:off x="838200" y="1690688"/>
            <a:ext cx="698628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Fastqc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https://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github.com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/s-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andrews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FastQC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Trim_galore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https://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github.com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FelixKrueger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TrimGalore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569D035-3B0E-5543-93B9-BDE9508472DC}"/>
              </a:ext>
            </a:extLst>
          </p:cNvPr>
          <p:cNvSpPr/>
          <p:nvPr/>
        </p:nvSpPr>
        <p:spPr>
          <a:xfrm>
            <a:off x="838200" y="2112135"/>
            <a:ext cx="6986286" cy="13168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A screenshot of a graph&#10;&#10;AI-generated content may be incorrect.">
            <a:extLst>
              <a:ext uri="{FF2B5EF4-FFF2-40B4-BE49-F238E27FC236}">
                <a16:creationId xmlns:a16="http://schemas.microsoft.com/office/drawing/2014/main" id="{78FC78AB-4B84-4FB7-3063-BB13FBCCFA4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67"/>
          <a:stretch>
            <a:fillRect/>
          </a:stretch>
        </p:blipFill>
        <p:spPr>
          <a:xfrm>
            <a:off x="3348507" y="2084499"/>
            <a:ext cx="8357846" cy="418751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B34808B-1FD5-CAA6-11FC-4529EFB986E4}"/>
              </a:ext>
            </a:extLst>
          </p:cNvPr>
          <p:cNvSpPr txBox="1"/>
          <p:nvPr/>
        </p:nvSpPr>
        <p:spPr>
          <a:xfrm>
            <a:off x="3258355" y="1688233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Raw reads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4989732-0BBF-036D-67A2-8E35F6C494E7}"/>
              </a:ext>
            </a:extLst>
          </p:cNvPr>
          <p:cNvSpPr txBox="1"/>
          <p:nvPr/>
        </p:nvSpPr>
        <p:spPr>
          <a:xfrm rot="16200000">
            <a:off x="4220087" y="4315878"/>
            <a:ext cx="17235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Quality Score</a:t>
            </a:r>
          </a:p>
        </p:txBody>
      </p:sp>
    </p:spTree>
    <p:extLst>
      <p:ext uri="{BB962C8B-B14F-4D97-AF65-F5344CB8AC3E}">
        <p14:creationId xmlns:p14="http://schemas.microsoft.com/office/powerpoint/2010/main" val="31463181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39B9EF-9114-4F98-040C-E3E4451E4E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0DC0D-3336-0CA9-107C-51D09D2B7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Programs Used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82154D-5EF1-7605-96D3-C92DF6116AA6}"/>
              </a:ext>
            </a:extLst>
          </p:cNvPr>
          <p:cNvSpPr txBox="1"/>
          <p:nvPr/>
        </p:nvSpPr>
        <p:spPr>
          <a:xfrm>
            <a:off x="838200" y="1690688"/>
            <a:ext cx="698628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Fastqc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https://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github.com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/s-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andrews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FastQC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Trim_galore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https://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github.com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FelixKrueger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TrimGalore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A755A1-12D5-6134-7922-5AEFF7D75C1D}"/>
              </a:ext>
            </a:extLst>
          </p:cNvPr>
          <p:cNvSpPr/>
          <p:nvPr/>
        </p:nvSpPr>
        <p:spPr>
          <a:xfrm>
            <a:off x="838200" y="2112135"/>
            <a:ext cx="6986286" cy="13168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A screenshot of a graph&#10;&#10;AI-generated content may be incorrect.">
            <a:extLst>
              <a:ext uri="{FF2B5EF4-FFF2-40B4-BE49-F238E27FC236}">
                <a16:creationId xmlns:a16="http://schemas.microsoft.com/office/drawing/2014/main" id="{5E270C43-2311-4432-5436-DE3F7208E60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67"/>
          <a:stretch>
            <a:fillRect/>
          </a:stretch>
        </p:blipFill>
        <p:spPr>
          <a:xfrm>
            <a:off x="3348507" y="2084499"/>
            <a:ext cx="8357846" cy="418751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406E77F-7B72-1A1D-078C-BCF34C74A280}"/>
              </a:ext>
            </a:extLst>
          </p:cNvPr>
          <p:cNvSpPr txBox="1"/>
          <p:nvPr/>
        </p:nvSpPr>
        <p:spPr>
          <a:xfrm>
            <a:off x="3258355" y="1688233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Raw reads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90427AC-25C5-AE5B-F5BD-39F83B1209AE}"/>
              </a:ext>
            </a:extLst>
          </p:cNvPr>
          <p:cNvSpPr txBox="1"/>
          <p:nvPr/>
        </p:nvSpPr>
        <p:spPr>
          <a:xfrm rot="16200000">
            <a:off x="4220087" y="4315878"/>
            <a:ext cx="17235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Quality Score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1D585DB-6AE0-E27D-A6C1-85249549AC1E}"/>
              </a:ext>
            </a:extLst>
          </p:cNvPr>
          <p:cNvCxnSpPr>
            <a:cxnSpLocks/>
          </p:cNvCxnSpPr>
          <p:nvPr/>
        </p:nvCxnSpPr>
        <p:spPr>
          <a:xfrm>
            <a:off x="5369442" y="4420847"/>
            <a:ext cx="5358809" cy="0"/>
          </a:xfrm>
          <a:prstGeom prst="line">
            <a:avLst/>
          </a:prstGeom>
          <a:ln w="381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E3D5D1F1-A8A0-8B12-F518-D94E4CDB27BE}"/>
              </a:ext>
            </a:extLst>
          </p:cNvPr>
          <p:cNvSpPr txBox="1"/>
          <p:nvPr/>
        </p:nvSpPr>
        <p:spPr>
          <a:xfrm>
            <a:off x="10752726" y="4220792"/>
            <a:ext cx="9973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Default</a:t>
            </a:r>
          </a:p>
        </p:txBody>
      </p:sp>
    </p:spTree>
    <p:extLst>
      <p:ext uri="{BB962C8B-B14F-4D97-AF65-F5344CB8AC3E}">
        <p14:creationId xmlns:p14="http://schemas.microsoft.com/office/powerpoint/2010/main" val="2076725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1698F6-CE85-ED49-D836-7326A72E79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F254EE-6FD8-B019-0F36-2352316086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Programs Used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1457D6-94BB-883A-3B7A-E8B175C15919}"/>
              </a:ext>
            </a:extLst>
          </p:cNvPr>
          <p:cNvSpPr txBox="1"/>
          <p:nvPr/>
        </p:nvSpPr>
        <p:spPr>
          <a:xfrm>
            <a:off x="838200" y="1690688"/>
            <a:ext cx="698628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Fastqc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https://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github.com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/s-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andrews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FastQC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Trim_galore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https://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github.com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FelixKrueger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TrimGalore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141BACF-5F59-7273-C308-92385BA85007}"/>
              </a:ext>
            </a:extLst>
          </p:cNvPr>
          <p:cNvSpPr/>
          <p:nvPr/>
        </p:nvSpPr>
        <p:spPr>
          <a:xfrm>
            <a:off x="838200" y="2112135"/>
            <a:ext cx="6986286" cy="13168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A screenshot of a graph&#10;&#10;AI-generated content may be incorrect.">
            <a:extLst>
              <a:ext uri="{FF2B5EF4-FFF2-40B4-BE49-F238E27FC236}">
                <a16:creationId xmlns:a16="http://schemas.microsoft.com/office/drawing/2014/main" id="{9C315C2B-AD68-FF4E-B8C4-051608EE18A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67"/>
          <a:stretch>
            <a:fillRect/>
          </a:stretch>
        </p:blipFill>
        <p:spPr>
          <a:xfrm>
            <a:off x="3348507" y="2084499"/>
            <a:ext cx="8357846" cy="418751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F772A15-639D-FA7B-D6A3-61FDCEA731CD}"/>
              </a:ext>
            </a:extLst>
          </p:cNvPr>
          <p:cNvSpPr txBox="1"/>
          <p:nvPr/>
        </p:nvSpPr>
        <p:spPr>
          <a:xfrm>
            <a:off x="3258355" y="1688233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Raw reads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04E3EA-3BEF-64FE-413C-83CD768A716D}"/>
              </a:ext>
            </a:extLst>
          </p:cNvPr>
          <p:cNvSpPr txBox="1"/>
          <p:nvPr/>
        </p:nvSpPr>
        <p:spPr>
          <a:xfrm rot="16200000">
            <a:off x="4220087" y="4315878"/>
            <a:ext cx="17235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Quality Score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E6FC66F-1F95-4AC0-91CC-4F38D070D919}"/>
              </a:ext>
            </a:extLst>
          </p:cNvPr>
          <p:cNvCxnSpPr>
            <a:cxnSpLocks/>
          </p:cNvCxnSpPr>
          <p:nvPr/>
        </p:nvCxnSpPr>
        <p:spPr>
          <a:xfrm>
            <a:off x="8264768" y="3049247"/>
            <a:ext cx="0" cy="2936556"/>
          </a:xfrm>
          <a:prstGeom prst="line">
            <a:avLst/>
          </a:prstGeom>
          <a:ln w="381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9DB5950-729E-633A-603B-915166E44DA1}"/>
              </a:ext>
            </a:extLst>
          </p:cNvPr>
          <p:cNvCxnSpPr>
            <a:cxnSpLocks/>
          </p:cNvCxnSpPr>
          <p:nvPr/>
        </p:nvCxnSpPr>
        <p:spPr>
          <a:xfrm>
            <a:off x="8264768" y="5584875"/>
            <a:ext cx="2440746" cy="0"/>
          </a:xfrm>
          <a:prstGeom prst="straightConnector1">
            <a:avLst/>
          </a:prstGeom>
          <a:ln w="38100">
            <a:solidFill>
              <a:schemeClr val="accent4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449AB69-2C8D-86E2-4B84-A4740CDEECF7}"/>
              </a:ext>
            </a:extLst>
          </p:cNvPr>
          <p:cNvCxnSpPr>
            <a:cxnSpLocks/>
          </p:cNvCxnSpPr>
          <p:nvPr/>
        </p:nvCxnSpPr>
        <p:spPr>
          <a:xfrm>
            <a:off x="5369442" y="4420847"/>
            <a:ext cx="5358809" cy="0"/>
          </a:xfrm>
          <a:prstGeom prst="line">
            <a:avLst/>
          </a:prstGeom>
          <a:ln w="381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05762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207C52-B9D5-C0A2-A24F-C9FC46AF6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BEC85-80C8-EB3C-3A17-D645D37CE3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Programs Used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548904-5561-F380-ACFB-E4E4BE571259}"/>
              </a:ext>
            </a:extLst>
          </p:cNvPr>
          <p:cNvSpPr txBox="1"/>
          <p:nvPr/>
        </p:nvSpPr>
        <p:spPr>
          <a:xfrm>
            <a:off x="838200" y="1690688"/>
            <a:ext cx="698628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Fastqc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https://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github.com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/s-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andrews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FastQC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Trim_galore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https://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github.com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FelixKrueger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TrimGalore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51742B7-3274-0CBA-74F3-A53D1AA08D02}"/>
              </a:ext>
            </a:extLst>
          </p:cNvPr>
          <p:cNvSpPr/>
          <p:nvPr/>
        </p:nvSpPr>
        <p:spPr>
          <a:xfrm>
            <a:off x="838200" y="2112135"/>
            <a:ext cx="6986286" cy="13168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B6A07E7-163A-CE9A-0702-31CE726F0E57}"/>
              </a:ext>
            </a:extLst>
          </p:cNvPr>
          <p:cNvSpPr txBox="1"/>
          <p:nvPr/>
        </p:nvSpPr>
        <p:spPr>
          <a:xfrm>
            <a:off x="3258355" y="1688233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Raw reads</a:t>
            </a:r>
          </a:p>
        </p:txBody>
      </p:sp>
      <p:pic>
        <p:nvPicPr>
          <p:cNvPr id="8" name="Picture 7" descr="A graph showing the amount of a number of data&#10;&#10;AI-generated content may be incorrect.">
            <a:extLst>
              <a:ext uri="{FF2B5EF4-FFF2-40B4-BE49-F238E27FC236}">
                <a16:creationId xmlns:a16="http://schemas.microsoft.com/office/drawing/2014/main" id="{9B502AC0-9AD3-6842-1472-1364A306E07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492"/>
          <a:stretch>
            <a:fillRect/>
          </a:stretch>
        </p:blipFill>
        <p:spPr>
          <a:xfrm>
            <a:off x="3152190" y="2088343"/>
            <a:ext cx="7772400" cy="4769657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85D88FD-1E6C-8F51-7F26-5067568E24E2}"/>
              </a:ext>
            </a:extLst>
          </p:cNvPr>
          <p:cNvCxnSpPr>
            <a:cxnSpLocks/>
          </p:cNvCxnSpPr>
          <p:nvPr/>
        </p:nvCxnSpPr>
        <p:spPr>
          <a:xfrm flipH="1">
            <a:off x="9787245" y="1888288"/>
            <a:ext cx="128788" cy="722369"/>
          </a:xfrm>
          <a:prstGeom prst="straightConnector1">
            <a:avLst/>
          </a:prstGeom>
          <a:ln w="38100">
            <a:solidFill>
              <a:schemeClr val="accent4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641208A-7C9B-1208-B226-1DA248044C5C}"/>
              </a:ext>
            </a:extLst>
          </p:cNvPr>
          <p:cNvSpPr txBox="1"/>
          <p:nvPr/>
        </p:nvSpPr>
        <p:spPr>
          <a:xfrm>
            <a:off x="9147233" y="1193526"/>
            <a:ext cx="153760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Adapter</a:t>
            </a:r>
          </a:p>
          <a:p>
            <a:pPr algn="ctr"/>
            <a:r>
              <a:rPr lang="en-US" sz="2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Auto-Detect</a:t>
            </a:r>
          </a:p>
        </p:txBody>
      </p:sp>
    </p:spTree>
    <p:extLst>
      <p:ext uri="{BB962C8B-B14F-4D97-AF65-F5344CB8AC3E}">
        <p14:creationId xmlns:p14="http://schemas.microsoft.com/office/powerpoint/2010/main" val="41552448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7E71AB-5054-3A3A-4BED-EC8C1EA88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50AFB6-1D18-FB7F-D8B2-2AB2C5E252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Programs Used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9E2110B-16F5-9827-3281-8B8B1CCCFDF9}"/>
              </a:ext>
            </a:extLst>
          </p:cNvPr>
          <p:cNvSpPr txBox="1"/>
          <p:nvPr/>
        </p:nvSpPr>
        <p:spPr>
          <a:xfrm>
            <a:off x="838200" y="1690688"/>
            <a:ext cx="698628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err="1">
                <a:solidFill>
                  <a:schemeClr val="tx1">
                    <a:alpha val="3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Fastqc</a:t>
            </a:r>
            <a:endParaRPr lang="en-US" sz="2400" b="1" dirty="0">
              <a:solidFill>
                <a:schemeClr val="tx1">
                  <a:alpha val="3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alpha val="3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https://</a:t>
            </a:r>
            <a:r>
              <a:rPr lang="en-US" sz="2400" dirty="0" err="1">
                <a:solidFill>
                  <a:schemeClr val="tx1">
                    <a:alpha val="3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github.com</a:t>
            </a:r>
            <a:r>
              <a:rPr lang="en-US" sz="2400" dirty="0">
                <a:solidFill>
                  <a:schemeClr val="tx1">
                    <a:alpha val="3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/s-</a:t>
            </a:r>
            <a:r>
              <a:rPr lang="en-US" sz="2400" dirty="0" err="1">
                <a:solidFill>
                  <a:schemeClr val="tx1">
                    <a:alpha val="3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andrews</a:t>
            </a:r>
            <a:r>
              <a:rPr lang="en-US" sz="2400" dirty="0">
                <a:solidFill>
                  <a:schemeClr val="tx1">
                    <a:alpha val="3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sz="2400" dirty="0" err="1">
                <a:solidFill>
                  <a:schemeClr val="tx1">
                    <a:alpha val="3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FastQC</a:t>
            </a:r>
            <a:endParaRPr lang="en-US" sz="2400" dirty="0">
              <a:solidFill>
                <a:schemeClr val="tx1">
                  <a:alpha val="3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Trim_galore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https://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github.com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FelixKrueger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TrimGalore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93990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24EDD3-420C-A254-5004-2CB481A88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9A1AE0-6A5A-1650-3FAE-908140B57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Programs Used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D2D43E9-D0DF-893B-1E74-72AC429594FC}"/>
              </a:ext>
            </a:extLst>
          </p:cNvPr>
          <p:cNvSpPr txBox="1"/>
          <p:nvPr/>
        </p:nvSpPr>
        <p:spPr>
          <a:xfrm>
            <a:off x="838199" y="1690688"/>
            <a:ext cx="774227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Trim_galore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trim_galore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-q 20 --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fastqc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-o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trimmed_reads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./*.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fastq.gz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6608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66900A-4DFB-A19A-5F68-962BE06630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B207BD-B19A-8FFC-17DA-40607BCDA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Programs Used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8E559D-D0AD-3A49-F783-39B3181A6D91}"/>
              </a:ext>
            </a:extLst>
          </p:cNvPr>
          <p:cNvSpPr txBox="1"/>
          <p:nvPr/>
        </p:nvSpPr>
        <p:spPr>
          <a:xfrm>
            <a:off x="838199" y="1690688"/>
            <a:ext cx="77422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Trim_galore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Picture 4" descr="A screenshot of a graph&#10;&#10;AI-generated content may be incorrect.">
            <a:extLst>
              <a:ext uri="{FF2B5EF4-FFF2-40B4-BE49-F238E27FC236}">
                <a16:creationId xmlns:a16="http://schemas.microsoft.com/office/drawing/2014/main" id="{4E82E491-2F56-B684-4147-9058989BDA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7648" y="2263995"/>
            <a:ext cx="9191903" cy="388162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EBD86D8-8B96-40F0-493C-60DBBF2E6C86}"/>
              </a:ext>
            </a:extLst>
          </p:cNvPr>
          <p:cNvSpPr txBox="1"/>
          <p:nvPr/>
        </p:nvSpPr>
        <p:spPr>
          <a:xfrm>
            <a:off x="2810931" y="1874629"/>
            <a:ext cx="189840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Trimmed reads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5BE2C4C-AA79-AFC8-5ED9-0EB060886F90}"/>
              </a:ext>
            </a:extLst>
          </p:cNvPr>
          <p:cNvSpPr/>
          <p:nvPr/>
        </p:nvSpPr>
        <p:spPr>
          <a:xfrm>
            <a:off x="9824483" y="2263995"/>
            <a:ext cx="2235067" cy="372879"/>
          </a:xfrm>
          <a:prstGeom prst="rect">
            <a:avLst/>
          </a:pr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5B1E109-6C0D-ABEF-8200-6E2D977F19CB}"/>
              </a:ext>
            </a:extLst>
          </p:cNvPr>
          <p:cNvCxnSpPr>
            <a:cxnSpLocks/>
          </p:cNvCxnSpPr>
          <p:nvPr/>
        </p:nvCxnSpPr>
        <p:spPr>
          <a:xfrm>
            <a:off x="4862199" y="4433777"/>
            <a:ext cx="5132406" cy="0"/>
          </a:xfrm>
          <a:prstGeom prst="line">
            <a:avLst/>
          </a:prstGeom>
          <a:ln w="381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EA4120A3-1699-0744-BFDD-EF5D5076E74E}"/>
              </a:ext>
            </a:extLst>
          </p:cNvPr>
          <p:cNvSpPr txBox="1"/>
          <p:nvPr/>
        </p:nvSpPr>
        <p:spPr>
          <a:xfrm>
            <a:off x="10138751" y="4233722"/>
            <a:ext cx="16065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Much better!</a:t>
            </a:r>
          </a:p>
        </p:txBody>
      </p:sp>
    </p:spTree>
    <p:extLst>
      <p:ext uri="{BB962C8B-B14F-4D97-AF65-F5344CB8AC3E}">
        <p14:creationId xmlns:p14="http://schemas.microsoft.com/office/powerpoint/2010/main" val="571141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6C4A1C-E1DD-612D-DC32-B9E865E636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DD87C-8A00-E85B-FB58-1281DA253C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Programs Used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4BE0FC-3012-2581-6A8A-BA95931F2B9B}"/>
              </a:ext>
            </a:extLst>
          </p:cNvPr>
          <p:cNvSpPr txBox="1"/>
          <p:nvPr/>
        </p:nvSpPr>
        <p:spPr>
          <a:xfrm>
            <a:off x="838199" y="1690688"/>
            <a:ext cx="77422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Trim_galore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6" descr="A graph with numbers and text&#10;&#10;AI-generated content may be incorrect.">
            <a:extLst>
              <a:ext uri="{FF2B5EF4-FFF2-40B4-BE49-F238E27FC236}">
                <a16:creationId xmlns:a16="http://schemas.microsoft.com/office/drawing/2014/main" id="{28716E65-59B6-0A93-C0E6-C2BE192E023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2810931" y="2224209"/>
            <a:ext cx="7482664" cy="46337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78A70C9-B212-7DE3-FE15-09368997D147}"/>
              </a:ext>
            </a:extLst>
          </p:cNvPr>
          <p:cNvSpPr txBox="1"/>
          <p:nvPr/>
        </p:nvSpPr>
        <p:spPr>
          <a:xfrm>
            <a:off x="2810931" y="1874629"/>
            <a:ext cx="189840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Trimmed reads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263BB7-9BAF-F6DB-8E73-9605F2E439EA}"/>
              </a:ext>
            </a:extLst>
          </p:cNvPr>
          <p:cNvSpPr txBox="1"/>
          <p:nvPr/>
        </p:nvSpPr>
        <p:spPr>
          <a:xfrm>
            <a:off x="10138751" y="4233722"/>
            <a:ext cx="16514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 adapters!</a:t>
            </a:r>
          </a:p>
        </p:txBody>
      </p:sp>
    </p:spTree>
    <p:extLst>
      <p:ext uri="{BB962C8B-B14F-4D97-AF65-F5344CB8AC3E}">
        <p14:creationId xmlns:p14="http://schemas.microsoft.com/office/powerpoint/2010/main" val="30596881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588801-6082-4134-EA0F-31DF7D228E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8F0C5-1EB3-8960-398C-3BCFB8BAD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76823" y="992446"/>
            <a:ext cx="3838354" cy="1272289"/>
          </a:xfrm>
        </p:spPr>
        <p:txBody>
          <a:bodyPr>
            <a:normAutofit/>
          </a:bodyPr>
          <a:lstStyle/>
          <a:p>
            <a:pPr algn="ctr"/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trimmed_reads.zip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2EDB46DB-7330-05D8-F756-3DBE1D52C1E5}"/>
              </a:ext>
            </a:extLst>
          </p:cNvPr>
          <p:cNvCxnSpPr>
            <a:cxnSpLocks/>
            <a:stCxn id="2" idx="2"/>
          </p:cNvCxnSpPr>
          <p:nvPr/>
        </p:nvCxnSpPr>
        <p:spPr>
          <a:xfrm>
            <a:off x="6096000" y="2264735"/>
            <a:ext cx="0" cy="818707"/>
          </a:xfrm>
          <a:prstGeom prst="straightConnector1">
            <a:avLst/>
          </a:prstGeom>
          <a:ln w="38100">
            <a:solidFill>
              <a:schemeClr val="accent4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itle 1">
            <a:extLst>
              <a:ext uri="{FF2B5EF4-FFF2-40B4-BE49-F238E27FC236}">
                <a16:creationId xmlns:a16="http://schemas.microsoft.com/office/drawing/2014/main" id="{AFBE7104-7C00-B19A-1F89-ECE2D418C0DF}"/>
              </a:ext>
            </a:extLst>
          </p:cNvPr>
          <p:cNvSpPr txBox="1">
            <a:spLocks/>
          </p:cNvSpPr>
          <p:nvPr/>
        </p:nvSpPr>
        <p:spPr>
          <a:xfrm>
            <a:off x="4176823" y="2792855"/>
            <a:ext cx="3838354" cy="127228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unzip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trimmed_reads.zip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A4A16DF-1C81-13E3-25D0-42AC58AF64FD}"/>
              </a:ext>
            </a:extLst>
          </p:cNvPr>
          <p:cNvCxnSpPr>
            <a:cxnSpLocks/>
          </p:cNvCxnSpPr>
          <p:nvPr/>
        </p:nvCxnSpPr>
        <p:spPr>
          <a:xfrm>
            <a:off x="6096000" y="4065144"/>
            <a:ext cx="0" cy="818707"/>
          </a:xfrm>
          <a:prstGeom prst="straightConnector1">
            <a:avLst/>
          </a:prstGeom>
          <a:ln w="38100">
            <a:solidFill>
              <a:schemeClr val="accent4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itle 1">
            <a:extLst>
              <a:ext uri="{FF2B5EF4-FFF2-40B4-BE49-F238E27FC236}">
                <a16:creationId xmlns:a16="http://schemas.microsoft.com/office/drawing/2014/main" id="{0EA71D6F-23C5-CF93-1579-AD7B40929F08}"/>
              </a:ext>
            </a:extLst>
          </p:cNvPr>
          <p:cNvSpPr txBox="1">
            <a:spLocks/>
          </p:cNvSpPr>
          <p:nvPr/>
        </p:nvSpPr>
        <p:spPr>
          <a:xfrm>
            <a:off x="4194544" y="4883851"/>
            <a:ext cx="3838354" cy="127228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Import into qiime2 via manifest file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93E2DF9-6A6A-F5B0-10A1-752A7852DC96}"/>
              </a:ext>
            </a:extLst>
          </p:cNvPr>
          <p:cNvSpPr txBox="1"/>
          <p:nvPr/>
        </p:nvSpPr>
        <p:spPr>
          <a:xfrm>
            <a:off x="4437320" y="530781"/>
            <a:ext cx="33173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22776979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344</TotalTime>
  <Words>263</Words>
  <Application>Microsoft Macintosh PowerPoint</Application>
  <PresentationFormat>Widescreen</PresentationFormat>
  <Paragraphs>65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Pre-qiime2: quality control and removing adapters</vt:lpstr>
      <vt:lpstr>Programs Used</vt:lpstr>
      <vt:lpstr>Programs Used</vt:lpstr>
      <vt:lpstr>Programs Used</vt:lpstr>
      <vt:lpstr>Programs Used</vt:lpstr>
      <vt:lpstr>Programs Used</vt:lpstr>
      <vt:lpstr>Programs Used</vt:lpstr>
      <vt:lpstr>Programs Used</vt:lpstr>
      <vt:lpstr>Programs Used</vt:lpstr>
      <vt:lpstr>Programs Used</vt:lpstr>
      <vt:lpstr>Programs Used</vt:lpstr>
      <vt:lpstr>trimmed_reads.zip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Sierra Smith</dc:creator>
  <cp:lastModifiedBy>Sierra Smith</cp:lastModifiedBy>
  <cp:revision>44</cp:revision>
  <dcterms:created xsi:type="dcterms:W3CDTF">2026-02-17T17:32:28Z</dcterms:created>
  <dcterms:modified xsi:type="dcterms:W3CDTF">2026-02-26T19:17:09Z</dcterms:modified>
</cp:coreProperties>
</file>