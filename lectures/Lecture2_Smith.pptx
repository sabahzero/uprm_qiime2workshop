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6.jpg" ContentType="image/png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96" r:id="rId4"/>
    <p:sldId id="259" r:id="rId5"/>
    <p:sldId id="297" r:id="rId6"/>
    <p:sldId id="260" r:id="rId7"/>
    <p:sldId id="264" r:id="rId8"/>
    <p:sldId id="298" r:id="rId9"/>
    <p:sldId id="265" r:id="rId10"/>
    <p:sldId id="283" r:id="rId11"/>
    <p:sldId id="284" r:id="rId12"/>
    <p:sldId id="285" r:id="rId13"/>
    <p:sldId id="286" r:id="rId14"/>
    <p:sldId id="288" r:id="rId15"/>
    <p:sldId id="289" r:id="rId16"/>
    <p:sldId id="290" r:id="rId17"/>
    <p:sldId id="291" r:id="rId18"/>
    <p:sldId id="287" r:id="rId19"/>
    <p:sldId id="292" r:id="rId20"/>
    <p:sldId id="293" r:id="rId21"/>
    <p:sldId id="294" r:id="rId22"/>
    <p:sldId id="295" r:id="rId23"/>
    <p:sldId id="275" r:id="rId24"/>
    <p:sldId id="276" r:id="rId25"/>
    <p:sldId id="277" r:id="rId26"/>
    <p:sldId id="279" r:id="rId27"/>
    <p:sldId id="278" r:id="rId28"/>
    <p:sldId id="262" r:id="rId29"/>
    <p:sldId id="280" r:id="rId30"/>
    <p:sldId id="281" r:id="rId31"/>
    <p:sldId id="28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35"/>
    <p:restoredTop sz="94150"/>
  </p:normalViewPr>
  <p:slideViewPr>
    <p:cSldViewPr snapToGrid="0">
      <p:cViewPr varScale="1">
        <p:scale>
          <a:sx n="102" d="100"/>
          <a:sy n="102" d="100"/>
        </p:scale>
        <p:origin x="14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6042CB-28A2-754D-ACCB-4F0CF49EE20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610D6-285C-CD48-A777-0BA559C51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5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71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0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07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AD5E-4BE2-503A-62CF-12C04B9D7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299DD-5832-02FC-7ABA-71F9B5199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E5A05-9F0C-5130-7071-448DF5BF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B0531-6360-8F5F-56E7-36B18C87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590E5-CF16-D559-3EEC-AED055BE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6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314B-7013-FFEE-8977-080A60C1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445A8-2E0A-40A5-292F-4580066E0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35F94-D3C1-4F22-C9AF-14D3C081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B5602-0C46-EF89-D514-94A9C173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4BCCB-F201-6F0B-88FF-3E9BDEB1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AF28-C88D-A870-6F92-CE079C00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70913-9CD3-6ADC-A320-50E1BD03F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C047F-02BE-6EC7-E2CF-1346C789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82E54-0672-5FC0-2EAA-14E4C74C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B6663-D60B-D163-2EF1-ED1FC6D3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0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DD00-1E5C-A7CF-F4F3-C9A59A559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6BD92-D32D-391D-B91C-FE38EEB78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E28E6-95F4-EBC2-4C26-19B48C97C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6E133-8210-7005-712F-4A2F04A04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21C61-1510-BA38-9186-FDF4E70E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82DF5-384F-4118-24D1-782A6A27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3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E4AB-B561-527D-F903-C1F230FC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137B4-2319-846E-50AF-52882A4A2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50FE4-CB4B-D6A8-ACCC-77C612A76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08612A-5CE9-D4BA-DC09-93DEE3582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C77CF-5744-8B93-5CD0-2317347B65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AAC24-C4DC-29E0-CAE9-1D7C8D791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A2FFA-9407-449F-CA8F-50403529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6EC76-FACE-4808-7E3E-3072EDFB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6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82884-B46C-4B43-5D28-6CC031C4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030A4-8F63-BFF3-E907-16352FCB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329BE-55C7-D7DA-BAEE-A5A5B2F3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EC740-C9CC-BB83-4CD6-5E8F8715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4DEDD-9389-68B5-D9F4-59AFF618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4D0948-7BFA-DB49-3026-6C24D929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F6551-23EC-0253-BD1A-5ACB013F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69C1-7287-EE2E-2708-444A8D68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A1E32-DA8D-956C-66A9-7EDB2C44F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5186F-A6CE-7AFF-780E-89A2310CA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92813-E0AF-923C-1439-FFF31A14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A96FD-B1E9-D962-651C-7833BC16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7189B-D9DD-1DB9-3D41-64459BE7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8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35C4-45BA-F323-9B43-5266C4A7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28D96-575F-B5C0-D669-BF3ADCF78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7677B-E76E-427D-DE89-C4ECF0ED8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F8E93-1384-3B93-7BD2-36CAB4F1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F2EEB-14FD-CCBD-6D2A-A24152DC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43486-E071-3D22-3A30-B9DD4D86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8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0C19-5CC0-4731-FEE7-124BAF8E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5F3B8-0744-7C1C-C13E-6BC747F30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A4608-A174-2368-BAEC-0AEC32C9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B2A1D-2F00-7BA3-37A8-884174AD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FB07B-44E5-C6EA-64A1-217D3669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21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88AA4-8957-23B6-06DD-E62B2781B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92CD2-36E1-A8F3-9F9F-2680F3E7C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7C900-0CF5-407A-5DBC-4029D026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49370-0E60-F197-F6E9-F86E55A5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3962C-7D37-77F9-B747-E3C0F560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2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8756C-2AA5-1DBA-FED6-C53936FB1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FD389-8F95-6BEC-A6B1-5E2E7A0A3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DE221-888B-0B67-110F-2CA1CA4D0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296B3-6EEC-114C-BC37-B0B61E99771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85D89-5FDA-53BD-E01B-01A33C474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E15DE-ACD0-89AD-16C5-61F7D1017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2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cell&#10;&#10;AI-generated content may be incorrect.">
            <a:extLst>
              <a:ext uri="{FF2B5EF4-FFF2-40B4-BE49-F238E27FC236}">
                <a16:creationId xmlns:a16="http://schemas.microsoft.com/office/drawing/2014/main" id="{84E5D0E8-8A4D-585E-7B37-57CBF499EF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5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383E5E-A068-E8F8-77FD-CFABAB2C9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29620"/>
            <a:ext cx="9144000" cy="3125546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2:</a:t>
            </a:r>
            <a:b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Taxonomy, alignment, phylogeny,</a:t>
            </a:r>
            <a:b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diversity metrics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EFC89C-9D57-11EC-151E-F99C83C2C364}"/>
              </a:ext>
            </a:extLst>
          </p:cNvPr>
          <p:cNvSpPr txBox="1">
            <a:spLocks/>
          </p:cNvSpPr>
          <p:nvPr/>
        </p:nvSpPr>
        <p:spPr>
          <a:xfrm>
            <a:off x="4020273" y="4355166"/>
            <a:ext cx="4151453" cy="1450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Sierra Smith</a:t>
            </a:r>
          </a:p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UPRM qiime2 Workshop</a:t>
            </a:r>
          </a:p>
        </p:txBody>
      </p:sp>
    </p:spTree>
    <p:extLst>
      <p:ext uri="{BB962C8B-B14F-4D97-AF65-F5344CB8AC3E}">
        <p14:creationId xmlns:p14="http://schemas.microsoft.com/office/powerpoint/2010/main" val="390246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6999-4B7C-405E-A070-6DC3D6C3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ASV-Table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F2EAF-64AB-BCED-5748-CD36A8FCB21E}"/>
              </a:ext>
            </a:extLst>
          </p:cNvPr>
          <p:cNvSpPr txBox="1"/>
          <p:nvPr/>
        </p:nvSpPr>
        <p:spPr>
          <a:xfrm>
            <a:off x="838199" y="1690688"/>
            <a:ext cx="103725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Download and view reduced_42samp_tagplate1_asv-table.qzv 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Multiple sequence alignment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mafft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Phylogeny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phylogeny of aligned sequences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Diversity Metrics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A0C90-7A34-D147-4861-9FC1D80FA02D}"/>
              </a:ext>
            </a:extLst>
          </p:cNvPr>
          <p:cNvSpPr/>
          <p:nvPr/>
        </p:nvSpPr>
        <p:spPr>
          <a:xfrm>
            <a:off x="838200" y="2167003"/>
            <a:ext cx="8280748" cy="3409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8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4CAB0-DDCF-5185-E5EB-036BECBC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1D80-90B8-46ED-1E9F-92F5AC87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Breaking down this script…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9ADD6-D11E-6C3D-83D1-32F0EAFDEB2B}"/>
              </a:ext>
            </a:extLst>
          </p:cNvPr>
          <p:cNvSpPr txBox="1"/>
          <p:nvPr/>
        </p:nvSpPr>
        <p:spPr>
          <a:xfrm>
            <a:off x="838199" y="1690688"/>
            <a:ext cx="80678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qiime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phylogeny align-to-tree-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mafft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\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-sequences reduced_42samp_tagplate1_asv-seqs.qza \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--o-alignment aligned_42samp_asv-seqs.qza \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--o-masked-alignment masked-aligned_42samp_asv-seqs.qza \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--o-tree unrooted-tree_42samp.qza \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--o-rooted-tree rooted-tree_42samp.qza</a:t>
            </a:r>
          </a:p>
        </p:txBody>
      </p:sp>
    </p:spTree>
    <p:extLst>
      <p:ext uri="{BB962C8B-B14F-4D97-AF65-F5344CB8AC3E}">
        <p14:creationId xmlns:p14="http://schemas.microsoft.com/office/powerpoint/2010/main" val="36629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559B-B108-8F60-BA25-38EA73DC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81658-00D3-6278-DE49-A9BA9F52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Sequence alignment and masking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47D63-4672-6705-883E-A336A47F786A}"/>
              </a:ext>
            </a:extLst>
          </p:cNvPr>
          <p:cNvSpPr txBox="1"/>
          <p:nvPr/>
        </p:nvSpPr>
        <p:spPr>
          <a:xfrm>
            <a:off x="838200" y="1690688"/>
            <a:ext cx="69862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Identify regions of homology between sequences to predict evolutionary relationships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mafft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a multiple sequence alignment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Mask (or filter) alignment to remove highly variable positions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person holding a pen and a chart&#10;&#10;AI-generated content may be incorrect.">
            <a:extLst>
              <a:ext uri="{FF2B5EF4-FFF2-40B4-BE49-F238E27FC236}">
                <a16:creationId xmlns:a16="http://schemas.microsoft.com/office/drawing/2014/main" id="{DA21214A-2B86-64D3-A63A-5F847B4BF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496" y="4057650"/>
            <a:ext cx="6023979" cy="2435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7C068B-388F-25A0-15BB-93E11B2846CC}"/>
              </a:ext>
            </a:extLst>
          </p:cNvPr>
          <p:cNvSpPr txBox="1"/>
          <p:nvPr/>
        </p:nvSpPr>
        <p:spPr>
          <a:xfrm>
            <a:off x="8720729" y="6500038"/>
            <a:ext cx="3471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mafft.cbrc.jp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/alignment/server/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merge.html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grey letters on a black background&#10;&#10;AI-generated content may be incorrect.">
            <a:extLst>
              <a:ext uri="{FF2B5EF4-FFF2-40B4-BE49-F238E27FC236}">
                <a16:creationId xmlns:a16="http://schemas.microsoft.com/office/drawing/2014/main" id="{7B5E0DEC-072D-BBC7-6EAA-611457B02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776" y="2786061"/>
            <a:ext cx="3431716" cy="8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84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37F42-2227-94F7-7EB5-D7DE67221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4F46-19D4-5E48-D736-7A68F2E8A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Breaking down this script…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FCEDE-0863-B5C3-87D1-77067DE0185A}"/>
              </a:ext>
            </a:extLst>
          </p:cNvPr>
          <p:cNvSpPr txBox="1"/>
          <p:nvPr/>
        </p:nvSpPr>
        <p:spPr>
          <a:xfrm>
            <a:off x="838199" y="1690688"/>
            <a:ext cx="80678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qiime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phylogeny align-to-tree-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mafft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\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-sequences reduced_42samp_tagplate1_asv-seqs.qza \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--o-alignment aligned_42samp_asv-seqs.qza \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--o-masked-alignment masked-aligned_42samp_asv-seqs.qza \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--o-tree unrooted-tree_42samp.qza \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--o-rooted-tree rooted-tree_42samp.qza</a:t>
            </a:r>
          </a:p>
        </p:txBody>
      </p:sp>
    </p:spTree>
    <p:extLst>
      <p:ext uri="{BB962C8B-B14F-4D97-AF65-F5344CB8AC3E}">
        <p14:creationId xmlns:p14="http://schemas.microsoft.com/office/powerpoint/2010/main" val="348182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BEA0-7830-D18D-7C01-893E3412F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2A9B9-55EC-EE0B-A930-9607709A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Constructing phylogeny of microbial sequences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2BD76-5260-91F0-AB27-94B896911C22}"/>
              </a:ext>
            </a:extLst>
          </p:cNvPr>
          <p:cNvSpPr txBox="1"/>
          <p:nvPr/>
        </p:nvSpPr>
        <p:spPr>
          <a:xfrm>
            <a:off x="838200" y="1690688"/>
            <a:ext cx="69862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Use phylogenetic diversity metrics such 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 (Alpha)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Unifrac (Beta)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Unweighted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a phylogenetic tree from masked alignment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Creates an unrooted tree of microbial sequences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Root the tree to the midpoint of the longest tip-to-tip distance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EA6322-56AB-8782-890D-3F78FD9BC5A0}"/>
              </a:ext>
            </a:extLst>
          </p:cNvPr>
          <p:cNvSpPr/>
          <p:nvPr/>
        </p:nvSpPr>
        <p:spPr>
          <a:xfrm>
            <a:off x="838200" y="3986213"/>
            <a:ext cx="6986286" cy="2598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50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CD18-4558-7EA3-8139-8350794BB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F067-49DE-3DAF-5091-40537DE1B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Constructing phylogeny of microbial sequences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B774D-FD05-1547-305B-A8DEBEF992EC}"/>
              </a:ext>
            </a:extLst>
          </p:cNvPr>
          <p:cNvSpPr txBox="1"/>
          <p:nvPr/>
        </p:nvSpPr>
        <p:spPr>
          <a:xfrm>
            <a:off x="838200" y="1690688"/>
            <a:ext cx="69862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Use phylogenetic diversity metrics such 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 (Alpha)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Unifrac (Beta)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Unweighted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a phylogenetic tree from masked alignment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Creates an unrooted tree of microbial sequences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Root the tree to the midpoint of the longest tip-to-tip distance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73EAD9-BE1B-23DF-21E5-82EA4EEF98C3}"/>
              </a:ext>
            </a:extLst>
          </p:cNvPr>
          <p:cNvSpPr txBox="1"/>
          <p:nvPr/>
        </p:nvSpPr>
        <p:spPr>
          <a:xfrm flipH="1">
            <a:off x="10555128" y="6492875"/>
            <a:ext cx="1597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Dr Richard Edwards</a:t>
            </a:r>
          </a:p>
        </p:txBody>
      </p:sp>
      <p:pic>
        <p:nvPicPr>
          <p:cNvPr id="6" name="Picture 5" descr="A diagram of a tree&#10;&#10;AI-generated content may be incorrect.">
            <a:extLst>
              <a:ext uri="{FF2B5EF4-FFF2-40B4-BE49-F238E27FC236}">
                <a16:creationId xmlns:a16="http://schemas.microsoft.com/office/drawing/2014/main" id="{35CCF397-A02C-05FD-A4D1-B7A211F94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067" y="2319337"/>
            <a:ext cx="4678816" cy="28479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9B2B4F0-3096-5402-80CF-FF821D845D17}"/>
              </a:ext>
            </a:extLst>
          </p:cNvPr>
          <p:cNvSpPr/>
          <p:nvPr/>
        </p:nvSpPr>
        <p:spPr>
          <a:xfrm>
            <a:off x="838200" y="5795961"/>
            <a:ext cx="6986286" cy="788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3B86EB-4887-7F18-28A0-EDA047CB1819}"/>
              </a:ext>
            </a:extLst>
          </p:cNvPr>
          <p:cNvGrpSpPr/>
          <p:nvPr/>
        </p:nvGrpSpPr>
        <p:grpSpPr>
          <a:xfrm>
            <a:off x="9192507" y="2001349"/>
            <a:ext cx="2831375" cy="3313600"/>
            <a:chOff x="9192507" y="2001349"/>
            <a:chExt cx="2831375" cy="33136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B90CEF-6622-6829-8584-3C5F8851D02C}"/>
                </a:ext>
              </a:extLst>
            </p:cNvPr>
            <p:cNvSpPr/>
            <p:nvPr/>
          </p:nvSpPr>
          <p:spPr>
            <a:xfrm>
              <a:off x="9772649" y="2227876"/>
              <a:ext cx="2251233" cy="30870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F75632-F8C6-F849-21FB-6A3A3224C2F4}"/>
                </a:ext>
              </a:extLst>
            </p:cNvPr>
            <p:cNvSpPr/>
            <p:nvPr/>
          </p:nvSpPr>
          <p:spPr>
            <a:xfrm>
              <a:off x="9192507" y="2001349"/>
              <a:ext cx="1160282" cy="635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FEF71E-A164-DC65-298C-A35C93730B63}"/>
                </a:ext>
              </a:extLst>
            </p:cNvPr>
            <p:cNvSpPr/>
            <p:nvPr/>
          </p:nvSpPr>
          <p:spPr>
            <a:xfrm>
              <a:off x="9287307" y="3584330"/>
              <a:ext cx="1160282" cy="635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5474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F9E34-CE3E-80C8-2212-F40961BA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2139C-89B7-E2B1-A8F8-08690A55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Breaking down this script…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35965D-9C9F-6465-E7B6-9F62A9B2C7CF}"/>
              </a:ext>
            </a:extLst>
          </p:cNvPr>
          <p:cNvSpPr txBox="1"/>
          <p:nvPr/>
        </p:nvSpPr>
        <p:spPr>
          <a:xfrm>
            <a:off x="838199" y="1690688"/>
            <a:ext cx="80678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qiime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phylogeny align-to-tree-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mafft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\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-sequences reduced_42samp_tagplate1_asv-seqs.qza \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--o-alignment aligned_42samp_asv-seqs.qza \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--o-masked-alignment masked-aligned_42samp_asv-seqs.qza \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--o-tree unrooted-tree_42samp.qza \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--o-rooted-tree rooted-tree_42samp.qza</a:t>
            </a:r>
          </a:p>
        </p:txBody>
      </p:sp>
    </p:spTree>
    <p:extLst>
      <p:ext uri="{BB962C8B-B14F-4D97-AF65-F5344CB8AC3E}">
        <p14:creationId xmlns:p14="http://schemas.microsoft.com/office/powerpoint/2010/main" val="4153558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DC23-7550-825B-0CED-55B7B2118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E3731-D051-96DA-5A30-D6A29F01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Constructing phylogeny of microbial sequences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3AE63-42EE-E1F4-F553-EC9631E9A64C}"/>
              </a:ext>
            </a:extLst>
          </p:cNvPr>
          <p:cNvSpPr txBox="1"/>
          <p:nvPr/>
        </p:nvSpPr>
        <p:spPr>
          <a:xfrm>
            <a:off x="838200" y="1690688"/>
            <a:ext cx="69862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Use phylogenetic diversity metrics such 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 (Alpha)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Unifrac (Beta)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Unweighted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a phylogenetic tree from masked alignment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Creates an unrooted tree of microbial sequences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Root the tree to the midpoint of the </a:t>
            </a:r>
            <a:r>
              <a:rPr lang="en-US" sz="24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longest tip-to-tip distance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BF6FD-1D24-C9D5-3729-08A3E8CA36BC}"/>
              </a:ext>
            </a:extLst>
          </p:cNvPr>
          <p:cNvSpPr txBox="1"/>
          <p:nvPr/>
        </p:nvSpPr>
        <p:spPr>
          <a:xfrm flipH="1">
            <a:off x="10555128" y="6492875"/>
            <a:ext cx="1597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Dr Richard Edwards</a:t>
            </a:r>
          </a:p>
        </p:txBody>
      </p:sp>
      <p:pic>
        <p:nvPicPr>
          <p:cNvPr id="6" name="Picture 5" descr="A diagram of a tree&#10;&#10;AI-generated content may be incorrect.">
            <a:extLst>
              <a:ext uri="{FF2B5EF4-FFF2-40B4-BE49-F238E27FC236}">
                <a16:creationId xmlns:a16="http://schemas.microsoft.com/office/drawing/2014/main" id="{5656FD6F-C113-7C9C-60F9-87A822275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067" y="2319337"/>
            <a:ext cx="4678816" cy="2847975"/>
          </a:xfrm>
          <a:prstGeom prst="rect">
            <a:avLst/>
          </a:prstGeom>
        </p:spPr>
      </p:pic>
      <p:sp>
        <p:nvSpPr>
          <p:cNvPr id="14" name="Left Bracket 13">
            <a:extLst>
              <a:ext uri="{FF2B5EF4-FFF2-40B4-BE49-F238E27FC236}">
                <a16:creationId xmlns:a16="http://schemas.microsoft.com/office/drawing/2014/main" id="{417CBE21-D029-C507-3E98-046221040C78}"/>
              </a:ext>
            </a:extLst>
          </p:cNvPr>
          <p:cNvSpPr/>
          <p:nvPr/>
        </p:nvSpPr>
        <p:spPr>
          <a:xfrm rot="10800000">
            <a:off x="8445500" y="3479800"/>
            <a:ext cx="152400" cy="1117600"/>
          </a:xfrm>
          <a:prstGeom prst="leftBracke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C72866-584A-F5AE-BDFC-CAC9D233FCC0}"/>
              </a:ext>
            </a:extLst>
          </p:cNvPr>
          <p:cNvCxnSpPr>
            <a:cxnSpLocks/>
          </p:cNvCxnSpPr>
          <p:nvPr/>
        </p:nvCxnSpPr>
        <p:spPr>
          <a:xfrm>
            <a:off x="9516256" y="4137511"/>
            <a:ext cx="336438" cy="307489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448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E9AF4-9478-E30B-3F42-C22234B5C09A}"/>
              </a:ext>
            </a:extLst>
          </p:cNvPr>
          <p:cNvSpPr txBox="1"/>
          <p:nvPr/>
        </p:nvSpPr>
        <p:spPr>
          <a:xfrm>
            <a:off x="3809687" y="265296"/>
            <a:ext cx="45726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Two non-parametric tests to assess diversity in qiime2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D8E082D-A09E-B9BA-7A66-F1EB8AD93828}"/>
              </a:ext>
            </a:extLst>
          </p:cNvPr>
          <p:cNvCxnSpPr>
            <a:cxnSpLocks/>
          </p:cNvCxnSpPr>
          <p:nvPr/>
        </p:nvCxnSpPr>
        <p:spPr>
          <a:xfrm flipH="1">
            <a:off x="4827181" y="1724705"/>
            <a:ext cx="1268819" cy="156076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229667-2B25-915B-A939-527F1F24328D}"/>
              </a:ext>
            </a:extLst>
          </p:cNvPr>
          <p:cNvGrpSpPr/>
          <p:nvPr/>
        </p:nvGrpSpPr>
        <p:grpSpPr>
          <a:xfrm>
            <a:off x="1325525" y="3808686"/>
            <a:ext cx="3501656" cy="1650855"/>
            <a:chOff x="1325525" y="3075034"/>
            <a:chExt cx="3501656" cy="165085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1E3373F4-F780-B405-380F-6277523B010C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585749-3213-24DF-76F8-A4FFA9B88B23}"/>
                </a:ext>
              </a:extLst>
            </p:cNvPr>
            <p:cNvSpPr txBox="1"/>
            <p:nvPr/>
          </p:nvSpPr>
          <p:spPr>
            <a:xfrm>
              <a:off x="2013498" y="3669629"/>
              <a:ext cx="21257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Kruskal-Wallis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F57C827-F004-ACF3-E307-870755515FBB}"/>
              </a:ext>
            </a:extLst>
          </p:cNvPr>
          <p:cNvSpPr txBox="1"/>
          <p:nvPr/>
        </p:nvSpPr>
        <p:spPr>
          <a:xfrm>
            <a:off x="1863521" y="3347021"/>
            <a:ext cx="2425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880892-C03F-CA0E-7FBD-A7E86CF8B003}"/>
              </a:ext>
            </a:extLst>
          </p:cNvPr>
          <p:cNvGrpSpPr/>
          <p:nvPr/>
        </p:nvGrpSpPr>
        <p:grpSpPr>
          <a:xfrm>
            <a:off x="6676846" y="3821543"/>
            <a:ext cx="3501656" cy="1650855"/>
            <a:chOff x="1325525" y="3075034"/>
            <a:chExt cx="3501656" cy="1650855"/>
          </a:xfrm>
          <a:solidFill>
            <a:schemeClr val="tx2">
              <a:lumMod val="50000"/>
              <a:lumOff val="50000"/>
              <a:alpha val="10000"/>
            </a:schemeClr>
          </a:solidFill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7DDDE069-741C-2624-E30E-F5D906142FEB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grpFill/>
            <a:ln w="28575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0C0BC6-ACC8-DAC5-1B12-FAF0DC5B76EE}"/>
                </a:ext>
              </a:extLst>
            </p:cNvPr>
            <p:cNvSpPr txBox="1"/>
            <p:nvPr/>
          </p:nvSpPr>
          <p:spPr>
            <a:xfrm>
              <a:off x="2033440" y="3484963"/>
              <a:ext cx="208582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Permutational</a:t>
              </a:r>
            </a:p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MANOVA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9625BDD-F357-6D2C-9BF3-30A230AFFFFF}"/>
              </a:ext>
            </a:extLst>
          </p:cNvPr>
          <p:cNvSpPr txBox="1"/>
          <p:nvPr/>
        </p:nvSpPr>
        <p:spPr>
          <a:xfrm>
            <a:off x="7307816" y="3359878"/>
            <a:ext cx="223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7B889E-916C-8D6D-E916-06811BE9DB3A}"/>
              </a:ext>
            </a:extLst>
          </p:cNvPr>
          <p:cNvCxnSpPr>
            <a:cxnSpLocks/>
          </p:cNvCxnSpPr>
          <p:nvPr/>
        </p:nvCxnSpPr>
        <p:spPr>
          <a:xfrm>
            <a:off x="6096000" y="1724704"/>
            <a:ext cx="1268819" cy="1560761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0A14AC3-2764-2BA8-38A4-1BF4F9026A4C}"/>
              </a:ext>
            </a:extLst>
          </p:cNvPr>
          <p:cNvSpPr/>
          <p:nvPr/>
        </p:nvSpPr>
        <p:spPr>
          <a:xfrm>
            <a:off x="956930" y="1650291"/>
            <a:ext cx="10845210" cy="429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91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324E7-FD73-D7C7-B381-9BCA50FA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41F550-2B5C-A020-CDAE-5A404C5E8103}"/>
              </a:ext>
            </a:extLst>
          </p:cNvPr>
          <p:cNvSpPr txBox="1"/>
          <p:nvPr/>
        </p:nvSpPr>
        <p:spPr>
          <a:xfrm>
            <a:off x="3809687" y="265296"/>
            <a:ext cx="45726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Two non-parametric tests to assess diversity in qiime2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CF1843-5D7C-2B00-8E95-44ED87E5E196}"/>
              </a:ext>
            </a:extLst>
          </p:cNvPr>
          <p:cNvCxnSpPr>
            <a:cxnSpLocks/>
          </p:cNvCxnSpPr>
          <p:nvPr/>
        </p:nvCxnSpPr>
        <p:spPr>
          <a:xfrm flipH="1">
            <a:off x="4827181" y="1724705"/>
            <a:ext cx="1268819" cy="156076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6CB7590-8B19-ED58-5E37-AD1E6D1EBE4C}"/>
              </a:ext>
            </a:extLst>
          </p:cNvPr>
          <p:cNvGrpSpPr/>
          <p:nvPr/>
        </p:nvGrpSpPr>
        <p:grpSpPr>
          <a:xfrm>
            <a:off x="1325525" y="3808686"/>
            <a:ext cx="3501656" cy="1650855"/>
            <a:chOff x="1325525" y="3075034"/>
            <a:chExt cx="3501656" cy="165085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AF02AF7-264C-74AB-D940-C40F54B86635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D27B75-4D39-7920-1630-A058659F170F}"/>
                </a:ext>
              </a:extLst>
            </p:cNvPr>
            <p:cNvSpPr txBox="1"/>
            <p:nvPr/>
          </p:nvSpPr>
          <p:spPr>
            <a:xfrm>
              <a:off x="2013498" y="3669629"/>
              <a:ext cx="21257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Kruskal-Wallis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A248BA8-A68B-7258-9AE2-4D55D4531537}"/>
              </a:ext>
            </a:extLst>
          </p:cNvPr>
          <p:cNvSpPr txBox="1"/>
          <p:nvPr/>
        </p:nvSpPr>
        <p:spPr>
          <a:xfrm>
            <a:off x="1863521" y="3347021"/>
            <a:ext cx="2425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ECEBAA-2696-BF0B-C38D-5D4517E3E3C5}"/>
              </a:ext>
            </a:extLst>
          </p:cNvPr>
          <p:cNvGrpSpPr/>
          <p:nvPr/>
        </p:nvGrpSpPr>
        <p:grpSpPr>
          <a:xfrm>
            <a:off x="6676846" y="3821543"/>
            <a:ext cx="3501656" cy="1650855"/>
            <a:chOff x="1325525" y="3075034"/>
            <a:chExt cx="3501656" cy="1650855"/>
          </a:xfrm>
          <a:solidFill>
            <a:schemeClr val="tx2">
              <a:lumMod val="50000"/>
              <a:lumOff val="50000"/>
              <a:alpha val="10000"/>
            </a:schemeClr>
          </a:solidFill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A04A4B7-BE7C-D04D-E990-F5C8DE8862ED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grpFill/>
            <a:ln w="28575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8542AAC-7617-5F74-EF06-919065FFCC9F}"/>
                </a:ext>
              </a:extLst>
            </p:cNvPr>
            <p:cNvSpPr txBox="1"/>
            <p:nvPr/>
          </p:nvSpPr>
          <p:spPr>
            <a:xfrm>
              <a:off x="2033440" y="3484963"/>
              <a:ext cx="208582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Permutational</a:t>
              </a:r>
            </a:p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MANOVA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BF1A020-16FE-B9B6-0123-59DA86C66D6E}"/>
              </a:ext>
            </a:extLst>
          </p:cNvPr>
          <p:cNvSpPr txBox="1"/>
          <p:nvPr/>
        </p:nvSpPr>
        <p:spPr>
          <a:xfrm>
            <a:off x="7307816" y="3359878"/>
            <a:ext cx="223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F62187-E6A4-A15A-0B08-D819BFB2D029}"/>
              </a:ext>
            </a:extLst>
          </p:cNvPr>
          <p:cNvCxnSpPr>
            <a:cxnSpLocks/>
          </p:cNvCxnSpPr>
          <p:nvPr/>
        </p:nvCxnSpPr>
        <p:spPr>
          <a:xfrm>
            <a:off x="6096000" y="1724704"/>
            <a:ext cx="1268819" cy="1560761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811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6AF72-79E8-54BA-48AD-CE059738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E9D41A-6575-A489-9F61-75F993DFE8F3}"/>
              </a:ext>
            </a:extLst>
          </p:cNvPr>
          <p:cNvSpPr txBox="1"/>
          <p:nvPr/>
        </p:nvSpPr>
        <p:spPr>
          <a:xfrm>
            <a:off x="3809687" y="265296"/>
            <a:ext cx="45726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Two non-parametric tests to assess diversity in qiime2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A08FAA-F38B-6F90-699A-09FD3970C7A8}"/>
              </a:ext>
            </a:extLst>
          </p:cNvPr>
          <p:cNvCxnSpPr>
            <a:cxnSpLocks/>
          </p:cNvCxnSpPr>
          <p:nvPr/>
        </p:nvCxnSpPr>
        <p:spPr>
          <a:xfrm flipH="1">
            <a:off x="4827181" y="1724705"/>
            <a:ext cx="1268819" cy="156076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F8EDE3-881D-D78B-3149-3848AEB4B360}"/>
              </a:ext>
            </a:extLst>
          </p:cNvPr>
          <p:cNvGrpSpPr/>
          <p:nvPr/>
        </p:nvGrpSpPr>
        <p:grpSpPr>
          <a:xfrm>
            <a:off x="1325525" y="3808686"/>
            <a:ext cx="3501656" cy="1650855"/>
            <a:chOff x="1325525" y="3075034"/>
            <a:chExt cx="3501656" cy="165085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D279EFE-E784-A359-3FFD-559BFA4FEEA3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DBADE6-636E-64D7-7521-CE4F9C8CB200}"/>
                </a:ext>
              </a:extLst>
            </p:cNvPr>
            <p:cNvSpPr txBox="1"/>
            <p:nvPr/>
          </p:nvSpPr>
          <p:spPr>
            <a:xfrm>
              <a:off x="2013498" y="3669629"/>
              <a:ext cx="21257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Kruskal-Wallis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B9750A5-FA92-3714-2965-D66E20CF9B57}"/>
              </a:ext>
            </a:extLst>
          </p:cNvPr>
          <p:cNvSpPr txBox="1"/>
          <p:nvPr/>
        </p:nvSpPr>
        <p:spPr>
          <a:xfrm>
            <a:off x="1863521" y="3347021"/>
            <a:ext cx="2425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08B751-BC89-DFD6-6C27-D4E047B96A27}"/>
              </a:ext>
            </a:extLst>
          </p:cNvPr>
          <p:cNvGrpSpPr/>
          <p:nvPr/>
        </p:nvGrpSpPr>
        <p:grpSpPr>
          <a:xfrm>
            <a:off x="6676846" y="3821543"/>
            <a:ext cx="3501656" cy="1650855"/>
            <a:chOff x="1325525" y="3075034"/>
            <a:chExt cx="3501656" cy="1650855"/>
          </a:xfrm>
          <a:solidFill>
            <a:schemeClr val="tx2">
              <a:lumMod val="50000"/>
              <a:lumOff val="50000"/>
              <a:alpha val="10000"/>
            </a:schemeClr>
          </a:solidFill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F71631F-84DF-FC83-81AD-E2AB5D0FFF8F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grpFill/>
            <a:ln w="28575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B70ED1-9960-E931-87E1-4EF56059FD7C}"/>
                </a:ext>
              </a:extLst>
            </p:cNvPr>
            <p:cNvSpPr txBox="1"/>
            <p:nvPr/>
          </p:nvSpPr>
          <p:spPr>
            <a:xfrm>
              <a:off x="2033440" y="3484963"/>
              <a:ext cx="208582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Permutational</a:t>
              </a:r>
            </a:p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MANOVA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F83AE2D-1F39-C434-689A-C31151854A68}"/>
              </a:ext>
            </a:extLst>
          </p:cNvPr>
          <p:cNvSpPr txBox="1"/>
          <p:nvPr/>
        </p:nvSpPr>
        <p:spPr>
          <a:xfrm>
            <a:off x="7307816" y="3359878"/>
            <a:ext cx="223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091434-B95F-7C44-88B9-322043E05A9C}"/>
              </a:ext>
            </a:extLst>
          </p:cNvPr>
          <p:cNvCxnSpPr>
            <a:cxnSpLocks/>
          </p:cNvCxnSpPr>
          <p:nvPr/>
        </p:nvCxnSpPr>
        <p:spPr>
          <a:xfrm>
            <a:off x="6096000" y="1724704"/>
            <a:ext cx="1268819" cy="1560761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A55D13D-6C38-0AAD-CAA8-C66A40E18DF1}"/>
              </a:ext>
            </a:extLst>
          </p:cNvPr>
          <p:cNvSpPr txBox="1"/>
          <p:nvPr/>
        </p:nvSpPr>
        <p:spPr>
          <a:xfrm>
            <a:off x="7863829" y="1447944"/>
            <a:ext cx="3821353" cy="1328023"/>
          </a:xfrm>
          <a:prstGeom prst="round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comparisons of &gt; 2 groups correct for multiple tests</a:t>
            </a:r>
          </a:p>
        </p:txBody>
      </p:sp>
    </p:spTree>
    <p:extLst>
      <p:ext uri="{BB962C8B-B14F-4D97-AF65-F5344CB8AC3E}">
        <p14:creationId xmlns:p14="http://schemas.microsoft.com/office/powerpoint/2010/main" val="1696517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49F42DA-9564-4738-B869-182A461088B2}"/>
              </a:ext>
            </a:extLst>
          </p:cNvPr>
          <p:cNvGrpSpPr/>
          <p:nvPr/>
        </p:nvGrpSpPr>
        <p:grpSpPr>
          <a:xfrm>
            <a:off x="359611" y="847606"/>
            <a:ext cx="2778823" cy="1286225"/>
            <a:chOff x="1325525" y="3075034"/>
            <a:chExt cx="3501656" cy="165085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69A899FA-810E-AB6B-9B5F-B13F879B5F85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D68DAE9-19DA-A9DF-EBED-5F81C76597B6}"/>
                </a:ext>
              </a:extLst>
            </p:cNvPr>
            <p:cNvSpPr txBox="1"/>
            <p:nvPr/>
          </p:nvSpPr>
          <p:spPr>
            <a:xfrm>
              <a:off x="1624471" y="3604189"/>
              <a:ext cx="2903762" cy="592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Kruskal-Wallis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DE671CB-B2D8-EBF6-0DA8-F7718953B97E}"/>
              </a:ext>
            </a:extLst>
          </p:cNvPr>
          <p:cNvSpPr txBox="1"/>
          <p:nvPr/>
        </p:nvSpPr>
        <p:spPr>
          <a:xfrm>
            <a:off x="511114" y="347841"/>
            <a:ext cx="247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C40541F-0439-2B31-3724-EC1E7AC00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469" y="79522"/>
            <a:ext cx="6665684" cy="464505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C7A508-5899-D2A0-19FD-2E300F236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8" y="3675266"/>
            <a:ext cx="5586917" cy="3098993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7281E4-91F9-C541-1E47-89CD728E1924}"/>
              </a:ext>
            </a:extLst>
          </p:cNvPr>
          <p:cNvSpPr/>
          <p:nvPr/>
        </p:nvSpPr>
        <p:spPr>
          <a:xfrm>
            <a:off x="6744614" y="79522"/>
            <a:ext cx="1660551" cy="213086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533A3FF-6707-1024-AE98-671739EDF652}"/>
              </a:ext>
            </a:extLst>
          </p:cNvPr>
          <p:cNvSpPr/>
          <p:nvPr/>
        </p:nvSpPr>
        <p:spPr>
          <a:xfrm rot="16200000">
            <a:off x="4755683" y="2352578"/>
            <a:ext cx="650581" cy="213086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36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185E-4D11-5120-0F3E-8DEFAE43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56B1BA4-4458-9140-E612-20557EAC4DC4}"/>
              </a:ext>
            </a:extLst>
          </p:cNvPr>
          <p:cNvGrpSpPr/>
          <p:nvPr/>
        </p:nvGrpSpPr>
        <p:grpSpPr>
          <a:xfrm>
            <a:off x="359611" y="847606"/>
            <a:ext cx="2778823" cy="1286225"/>
            <a:chOff x="1325525" y="3075034"/>
            <a:chExt cx="3501656" cy="165085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1A71890E-0AA4-31D2-596C-980F146543B4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7B5B92-53CD-B214-4005-C8C937238652}"/>
                </a:ext>
              </a:extLst>
            </p:cNvPr>
            <p:cNvSpPr txBox="1"/>
            <p:nvPr/>
          </p:nvSpPr>
          <p:spPr>
            <a:xfrm>
              <a:off x="1624471" y="3604189"/>
              <a:ext cx="2903762" cy="592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Kruskal-Wallis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1B7B8A4-95E1-4526-E931-B2B7CD651667}"/>
              </a:ext>
            </a:extLst>
          </p:cNvPr>
          <p:cNvSpPr txBox="1"/>
          <p:nvPr/>
        </p:nvSpPr>
        <p:spPr>
          <a:xfrm>
            <a:off x="511114" y="347841"/>
            <a:ext cx="247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C155FA5-0CF4-900E-C273-93A6A6608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469" y="79522"/>
            <a:ext cx="6665684" cy="464505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F3F2FA-4FF0-942C-FBC4-49673EDD8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8" y="3675266"/>
            <a:ext cx="5586917" cy="3098993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1B378D4-7F45-A11E-D10E-C02D1B087C05}"/>
              </a:ext>
            </a:extLst>
          </p:cNvPr>
          <p:cNvSpPr/>
          <p:nvPr/>
        </p:nvSpPr>
        <p:spPr>
          <a:xfrm>
            <a:off x="6062377" y="1046798"/>
            <a:ext cx="1084573" cy="37966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90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5BD32-4FD1-5485-9346-D36196A3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00F522E-DD46-B12E-736F-51848E90A24A}"/>
              </a:ext>
            </a:extLst>
          </p:cNvPr>
          <p:cNvGrpSpPr/>
          <p:nvPr/>
        </p:nvGrpSpPr>
        <p:grpSpPr>
          <a:xfrm>
            <a:off x="359611" y="847606"/>
            <a:ext cx="2778823" cy="1286225"/>
            <a:chOff x="1325525" y="3075034"/>
            <a:chExt cx="3501656" cy="165085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34FC129-2529-BFB3-14DF-C3287EE7D179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0A3DF2-6C67-9BDC-0006-9CA195BAA957}"/>
                </a:ext>
              </a:extLst>
            </p:cNvPr>
            <p:cNvSpPr txBox="1"/>
            <p:nvPr/>
          </p:nvSpPr>
          <p:spPr>
            <a:xfrm>
              <a:off x="1624471" y="3604189"/>
              <a:ext cx="2903762" cy="592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Kruskal-Wallis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5302C7A-E81F-8EBD-60B4-0BB9F32D148C}"/>
              </a:ext>
            </a:extLst>
          </p:cNvPr>
          <p:cNvSpPr txBox="1"/>
          <p:nvPr/>
        </p:nvSpPr>
        <p:spPr>
          <a:xfrm>
            <a:off x="511114" y="347841"/>
            <a:ext cx="247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036CAAD-4F4D-7893-401B-5EB5CC75B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469" y="79522"/>
            <a:ext cx="6665684" cy="464505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EFB096-FC7D-18F5-4CD4-5B8FF1F34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8" y="3675266"/>
            <a:ext cx="5586917" cy="30989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3CC5AC3-6AFE-8D01-3CA3-6881F9B56017}"/>
              </a:ext>
            </a:extLst>
          </p:cNvPr>
          <p:cNvSpPr/>
          <p:nvPr/>
        </p:nvSpPr>
        <p:spPr>
          <a:xfrm>
            <a:off x="107738" y="3606395"/>
            <a:ext cx="5649324" cy="100218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19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D4CDA-8966-E95A-937E-9EB086EC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9703F9-45D2-4912-A68E-0F4BC0799E68}"/>
              </a:ext>
            </a:extLst>
          </p:cNvPr>
          <p:cNvGrpSpPr/>
          <p:nvPr/>
        </p:nvGrpSpPr>
        <p:grpSpPr>
          <a:xfrm>
            <a:off x="359611" y="847606"/>
            <a:ext cx="2778823" cy="1286225"/>
            <a:chOff x="1325525" y="3075034"/>
            <a:chExt cx="3501656" cy="165085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962D840-EF74-4D39-0DDF-8CFA586433B1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3830C2-192E-CFB4-756A-3A2381CB9306}"/>
                </a:ext>
              </a:extLst>
            </p:cNvPr>
            <p:cNvSpPr txBox="1"/>
            <p:nvPr/>
          </p:nvSpPr>
          <p:spPr>
            <a:xfrm>
              <a:off x="1624471" y="3604189"/>
              <a:ext cx="2903762" cy="592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Kruskal-Wallis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EB851EF-FEF0-70C2-9DDB-FF2619AA44A9}"/>
              </a:ext>
            </a:extLst>
          </p:cNvPr>
          <p:cNvSpPr txBox="1"/>
          <p:nvPr/>
        </p:nvSpPr>
        <p:spPr>
          <a:xfrm>
            <a:off x="511114" y="347841"/>
            <a:ext cx="247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D49A468-A022-09BA-6617-839F4B42E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469" y="79522"/>
            <a:ext cx="6665684" cy="464505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CF3FD4-4DA5-33C1-2F70-13C419AC2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8" y="3675266"/>
            <a:ext cx="5586917" cy="30989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19C2FCE-6C0C-D13F-3BE1-6E5559E117EE}"/>
              </a:ext>
            </a:extLst>
          </p:cNvPr>
          <p:cNvSpPr/>
          <p:nvPr/>
        </p:nvSpPr>
        <p:spPr>
          <a:xfrm>
            <a:off x="107738" y="4659782"/>
            <a:ext cx="5649324" cy="211447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60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E459B-DFE3-78F9-CF86-E5058BA2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FA7D5E0-7BD3-3849-78A0-C22C14B6D58A}"/>
              </a:ext>
            </a:extLst>
          </p:cNvPr>
          <p:cNvGrpSpPr/>
          <p:nvPr/>
        </p:nvGrpSpPr>
        <p:grpSpPr>
          <a:xfrm>
            <a:off x="359611" y="847606"/>
            <a:ext cx="2778823" cy="1286225"/>
            <a:chOff x="1325525" y="3075034"/>
            <a:chExt cx="3501656" cy="165085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81DB9253-9E33-A683-9C5C-8B8EDD8F0353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C2AD34-7DB5-6B54-AD9D-D8C96FD09D24}"/>
                </a:ext>
              </a:extLst>
            </p:cNvPr>
            <p:cNvSpPr txBox="1"/>
            <p:nvPr/>
          </p:nvSpPr>
          <p:spPr>
            <a:xfrm>
              <a:off x="1624471" y="3604189"/>
              <a:ext cx="2903762" cy="592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Kruskal-Wallis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28BD98C-9CCC-5A5B-4043-6293B77764C7}"/>
              </a:ext>
            </a:extLst>
          </p:cNvPr>
          <p:cNvSpPr txBox="1"/>
          <p:nvPr/>
        </p:nvSpPr>
        <p:spPr>
          <a:xfrm>
            <a:off x="511114" y="347841"/>
            <a:ext cx="247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514C139-FF4C-2131-3368-091BB9565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469" y="79522"/>
            <a:ext cx="6665684" cy="464505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E5D212-C0B5-EBDF-7883-742AAF09B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8" y="3675266"/>
            <a:ext cx="5586917" cy="30989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BA318DA-27E2-9206-05F9-5E5D4B168D98}"/>
              </a:ext>
            </a:extLst>
          </p:cNvPr>
          <p:cNvSpPr/>
          <p:nvPr/>
        </p:nvSpPr>
        <p:spPr>
          <a:xfrm>
            <a:off x="5135270" y="4923130"/>
            <a:ext cx="559385" cy="185112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71EBB-AFB4-85CA-5E47-7AF89A0EBA8B}"/>
              </a:ext>
            </a:extLst>
          </p:cNvPr>
          <p:cNvSpPr txBox="1"/>
          <p:nvPr/>
        </p:nvSpPr>
        <p:spPr>
          <a:xfrm>
            <a:off x="5644004" y="4872257"/>
            <a:ext cx="2040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calculate “corrected” p-values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A625E7-6AA7-16A1-2FB0-038EA7502A42}"/>
              </a:ext>
            </a:extLst>
          </p:cNvPr>
          <p:cNvCxnSpPr>
            <a:cxnSpLocks/>
          </p:cNvCxnSpPr>
          <p:nvPr/>
        </p:nvCxnSpPr>
        <p:spPr>
          <a:xfrm>
            <a:off x="785622" y="5343957"/>
            <a:ext cx="506603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120095-EE7E-4F7A-3FDA-ECB016DF11F9}"/>
              </a:ext>
            </a:extLst>
          </p:cNvPr>
          <p:cNvCxnSpPr>
            <a:cxnSpLocks/>
          </p:cNvCxnSpPr>
          <p:nvPr/>
        </p:nvCxnSpPr>
        <p:spPr>
          <a:xfrm>
            <a:off x="785621" y="5344389"/>
            <a:ext cx="506604" cy="14518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2FE261-8FBF-8C3B-71E0-25AF9714EB7D}"/>
              </a:ext>
            </a:extLst>
          </p:cNvPr>
          <p:cNvCxnSpPr>
            <a:cxnSpLocks/>
          </p:cNvCxnSpPr>
          <p:nvPr/>
        </p:nvCxnSpPr>
        <p:spPr>
          <a:xfrm>
            <a:off x="785620" y="5344389"/>
            <a:ext cx="506605" cy="30076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DE02856-984A-5EB9-D587-60700F1CC96E}"/>
              </a:ext>
            </a:extLst>
          </p:cNvPr>
          <p:cNvCxnSpPr>
            <a:cxnSpLocks/>
          </p:cNvCxnSpPr>
          <p:nvPr/>
        </p:nvCxnSpPr>
        <p:spPr>
          <a:xfrm>
            <a:off x="785620" y="5344389"/>
            <a:ext cx="506605" cy="45316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C94B9A-ADCC-11F0-5AB1-45EA9D7A7991}"/>
              </a:ext>
            </a:extLst>
          </p:cNvPr>
          <p:cNvSpPr txBox="1"/>
          <p:nvPr/>
        </p:nvSpPr>
        <p:spPr>
          <a:xfrm>
            <a:off x="1395233" y="4661520"/>
            <a:ext cx="2040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of “multiple tests”</a:t>
            </a:r>
          </a:p>
        </p:txBody>
      </p:sp>
    </p:spTree>
    <p:extLst>
      <p:ext uri="{BB962C8B-B14F-4D97-AF65-F5344CB8AC3E}">
        <p14:creationId xmlns:p14="http://schemas.microsoft.com/office/powerpoint/2010/main" val="194622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DBC91D5-D6F3-C0D7-096F-8D15A5DC56B2}"/>
              </a:ext>
            </a:extLst>
          </p:cNvPr>
          <p:cNvSpPr/>
          <p:nvPr/>
        </p:nvSpPr>
        <p:spPr>
          <a:xfrm>
            <a:off x="359611" y="847606"/>
            <a:ext cx="2778823" cy="1286225"/>
          </a:xfrm>
          <a:prstGeom prst="roundRect">
            <a:avLst/>
          </a:prstGeom>
          <a:solidFill>
            <a:schemeClr val="tx2">
              <a:lumMod val="50000"/>
              <a:lumOff val="50000"/>
              <a:alpha val="10000"/>
            </a:schemeClr>
          </a:solidFill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A56C1-C2CE-79C9-0A37-A86AB0441587}"/>
              </a:ext>
            </a:extLst>
          </p:cNvPr>
          <p:cNvSpPr txBox="1"/>
          <p:nvPr/>
        </p:nvSpPr>
        <p:spPr>
          <a:xfrm>
            <a:off x="511113" y="347839"/>
            <a:ext cx="247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CA2994-D270-7A1C-6BC5-7866B39A0964}"/>
              </a:ext>
            </a:extLst>
          </p:cNvPr>
          <p:cNvSpPr txBox="1"/>
          <p:nvPr/>
        </p:nvSpPr>
        <p:spPr>
          <a:xfrm>
            <a:off x="678465" y="1075219"/>
            <a:ext cx="21411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Permutational</a:t>
            </a:r>
          </a:p>
          <a:p>
            <a:pPr algn="ctr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MANOVA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05290A-F7B4-8399-32F1-3123D04CB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7235"/>
            <a:ext cx="5854700" cy="4394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4981A9-0931-24F0-6B6B-2753C6A50258}"/>
              </a:ext>
            </a:extLst>
          </p:cNvPr>
          <p:cNvSpPr txBox="1"/>
          <p:nvPr/>
        </p:nvSpPr>
        <p:spPr>
          <a:xfrm>
            <a:off x="4596654" y="286283"/>
            <a:ext cx="1499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*Unweighted-Unifrac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550AC-4A44-10C2-88D6-43F964593D12}"/>
              </a:ext>
            </a:extLst>
          </p:cNvPr>
          <p:cNvSpPr txBox="1"/>
          <p:nvPr/>
        </p:nvSpPr>
        <p:spPr>
          <a:xfrm>
            <a:off x="8413377" y="4366117"/>
            <a:ext cx="1685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Sample_Type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white and black line&#10;&#10;AI-generated content may be incorrect.">
            <a:extLst>
              <a:ext uri="{FF2B5EF4-FFF2-40B4-BE49-F238E27FC236}">
                <a16:creationId xmlns:a16="http://schemas.microsoft.com/office/drawing/2014/main" id="{A85B6F51-B36A-6329-8541-E2D82E947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71933"/>
            <a:ext cx="6710500" cy="2103120"/>
          </a:xfrm>
          <a:prstGeom prst="rect">
            <a:avLst/>
          </a:prstGeom>
        </p:spPr>
      </p:pic>
      <p:pic>
        <p:nvPicPr>
          <p:cNvPr id="15" name="Picture 14" descr="A screenshot of a white screen&#10;&#10;AI-generated content may be incorrect.">
            <a:extLst>
              <a:ext uri="{FF2B5EF4-FFF2-40B4-BE49-F238E27FC236}">
                <a16:creationId xmlns:a16="http://schemas.microsoft.com/office/drawing/2014/main" id="{35DE7A6C-22B4-54EF-ED51-CB1E8DAB5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64659"/>
            <a:ext cx="6729856" cy="252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146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5074-30B7-CFB3-C310-230EC497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731AE7-467C-F082-7247-0DE2FDEE99A8}"/>
              </a:ext>
            </a:extLst>
          </p:cNvPr>
          <p:cNvSpPr/>
          <p:nvPr/>
        </p:nvSpPr>
        <p:spPr>
          <a:xfrm>
            <a:off x="359611" y="847606"/>
            <a:ext cx="2778823" cy="1286225"/>
          </a:xfrm>
          <a:prstGeom prst="roundRect">
            <a:avLst/>
          </a:prstGeom>
          <a:solidFill>
            <a:schemeClr val="accent5">
              <a:lumMod val="60000"/>
              <a:lumOff val="40000"/>
              <a:alpha val="1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3C609-57C3-CED0-DEBC-6FE7E7F54A59}"/>
              </a:ext>
            </a:extLst>
          </p:cNvPr>
          <p:cNvSpPr txBox="1"/>
          <p:nvPr/>
        </p:nvSpPr>
        <p:spPr>
          <a:xfrm>
            <a:off x="511113" y="347839"/>
            <a:ext cx="247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Bonus Visual!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8AA9E-04D5-C225-FF8D-18D399F38CBD}"/>
              </a:ext>
            </a:extLst>
          </p:cNvPr>
          <p:cNvSpPr txBox="1"/>
          <p:nvPr/>
        </p:nvSpPr>
        <p:spPr>
          <a:xfrm>
            <a:off x="678464" y="1259885"/>
            <a:ext cx="2141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Taxa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Barplot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A93D1F-4E84-F436-3732-67B9417C61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5" t="23433" r="49381"/>
          <a:stretch>
            <a:fillRect/>
          </a:stretch>
        </p:blipFill>
        <p:spPr>
          <a:xfrm>
            <a:off x="5118984" y="1014453"/>
            <a:ext cx="5627517" cy="558319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29AEA5-1CEA-00C7-485B-7644D271E5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45" b="85748"/>
          <a:stretch>
            <a:fillRect/>
          </a:stretch>
        </p:blipFill>
        <p:spPr>
          <a:xfrm>
            <a:off x="5118984" y="260357"/>
            <a:ext cx="5627516" cy="63662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102254-CC1E-C686-80BA-8A7B0A9C802A}"/>
              </a:ext>
            </a:extLst>
          </p:cNvPr>
          <p:cNvCxnSpPr>
            <a:cxnSpLocks/>
          </p:cNvCxnSpPr>
          <p:nvPr/>
        </p:nvCxnSpPr>
        <p:spPr>
          <a:xfrm>
            <a:off x="5317281" y="771959"/>
            <a:ext cx="506603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75FEA70-B301-D47B-5F20-FF7C804AC039}"/>
              </a:ext>
            </a:extLst>
          </p:cNvPr>
          <p:cNvSpPr txBox="1"/>
          <p:nvPr/>
        </p:nvSpPr>
        <p:spPr>
          <a:xfrm>
            <a:off x="4265280" y="618070"/>
            <a:ext cx="1114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8F70D0-F8FB-D683-EA61-9420DFA90CBF}"/>
              </a:ext>
            </a:extLst>
          </p:cNvPr>
          <p:cNvSpPr/>
          <p:nvPr/>
        </p:nvSpPr>
        <p:spPr>
          <a:xfrm>
            <a:off x="8302052" y="1083994"/>
            <a:ext cx="2052183" cy="4913394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50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C8B12-B698-FAF0-5899-DD6EB148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F821599-28A2-86CD-C6F0-6FF66149C49E}"/>
              </a:ext>
            </a:extLst>
          </p:cNvPr>
          <p:cNvSpPr/>
          <p:nvPr/>
        </p:nvSpPr>
        <p:spPr>
          <a:xfrm>
            <a:off x="359611" y="847606"/>
            <a:ext cx="2778823" cy="1286225"/>
          </a:xfrm>
          <a:prstGeom prst="roundRect">
            <a:avLst/>
          </a:prstGeom>
          <a:solidFill>
            <a:schemeClr val="accent5">
              <a:lumMod val="60000"/>
              <a:lumOff val="40000"/>
              <a:alpha val="1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969CA-20DF-0516-6802-8D427E7FF3DA}"/>
              </a:ext>
            </a:extLst>
          </p:cNvPr>
          <p:cNvSpPr txBox="1"/>
          <p:nvPr/>
        </p:nvSpPr>
        <p:spPr>
          <a:xfrm>
            <a:off x="511113" y="347839"/>
            <a:ext cx="247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Bonus Visual!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B7605-C7CD-1389-0606-7CCD8A43CB7B}"/>
              </a:ext>
            </a:extLst>
          </p:cNvPr>
          <p:cNvSpPr txBox="1"/>
          <p:nvPr/>
        </p:nvSpPr>
        <p:spPr>
          <a:xfrm>
            <a:off x="678464" y="1259885"/>
            <a:ext cx="2141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Taxa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Barplot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22FD4E-31F2-1EAE-94A2-7975934B03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5" t="23433" r="49381"/>
          <a:stretch>
            <a:fillRect/>
          </a:stretch>
        </p:blipFill>
        <p:spPr>
          <a:xfrm>
            <a:off x="5118984" y="1014453"/>
            <a:ext cx="5627517" cy="558319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92A077-F845-5ABF-A536-2F895DEF41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45" b="85748"/>
          <a:stretch>
            <a:fillRect/>
          </a:stretch>
        </p:blipFill>
        <p:spPr>
          <a:xfrm>
            <a:off x="5118984" y="260357"/>
            <a:ext cx="5627516" cy="63662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F55314-B0AB-CF65-1E61-8CFC5D2951A7}"/>
              </a:ext>
            </a:extLst>
          </p:cNvPr>
          <p:cNvCxnSpPr>
            <a:cxnSpLocks/>
          </p:cNvCxnSpPr>
          <p:nvPr/>
        </p:nvCxnSpPr>
        <p:spPr>
          <a:xfrm flipH="1">
            <a:off x="9196757" y="1208989"/>
            <a:ext cx="506603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52E65ED-AC78-56B7-9907-B7FFE0F03C35}"/>
              </a:ext>
            </a:extLst>
          </p:cNvPr>
          <p:cNvCxnSpPr>
            <a:cxnSpLocks/>
          </p:cNvCxnSpPr>
          <p:nvPr/>
        </p:nvCxnSpPr>
        <p:spPr>
          <a:xfrm flipH="1">
            <a:off x="9107110" y="2000124"/>
            <a:ext cx="506603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910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914A0-4ECF-3962-3189-A27F96C2F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8ED815-3CD1-F77C-7C52-F10596EF5C60}"/>
              </a:ext>
            </a:extLst>
          </p:cNvPr>
          <p:cNvSpPr/>
          <p:nvPr/>
        </p:nvSpPr>
        <p:spPr>
          <a:xfrm>
            <a:off x="359611" y="847606"/>
            <a:ext cx="2778823" cy="1286225"/>
          </a:xfrm>
          <a:prstGeom prst="roundRect">
            <a:avLst/>
          </a:prstGeom>
          <a:solidFill>
            <a:schemeClr val="accent5">
              <a:lumMod val="60000"/>
              <a:lumOff val="40000"/>
              <a:alpha val="1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7FF05-CBA9-8E3C-A624-3BC1D9448B07}"/>
              </a:ext>
            </a:extLst>
          </p:cNvPr>
          <p:cNvSpPr txBox="1"/>
          <p:nvPr/>
        </p:nvSpPr>
        <p:spPr>
          <a:xfrm>
            <a:off x="511113" y="347839"/>
            <a:ext cx="247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Bonus Visual!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D9254-82E7-2F11-2882-5CFC9528FA8F}"/>
              </a:ext>
            </a:extLst>
          </p:cNvPr>
          <p:cNvSpPr txBox="1"/>
          <p:nvPr/>
        </p:nvSpPr>
        <p:spPr>
          <a:xfrm>
            <a:off x="678464" y="1259885"/>
            <a:ext cx="2141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Taxa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Barplot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D20AE0-000A-BFAF-5C82-FD6FBCBB93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5" t="23433" r="49381"/>
          <a:stretch>
            <a:fillRect/>
          </a:stretch>
        </p:blipFill>
        <p:spPr>
          <a:xfrm>
            <a:off x="5118984" y="1014453"/>
            <a:ext cx="5627517" cy="558319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416228-1FF1-CE8D-772A-E9943124C9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45" b="85748"/>
          <a:stretch>
            <a:fillRect/>
          </a:stretch>
        </p:blipFill>
        <p:spPr>
          <a:xfrm>
            <a:off x="5118984" y="260357"/>
            <a:ext cx="5627516" cy="636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103DB1-F5DF-912E-2F02-0256B4F3EE16}"/>
              </a:ext>
            </a:extLst>
          </p:cNvPr>
          <p:cNvSpPr txBox="1"/>
          <p:nvPr/>
        </p:nvSpPr>
        <p:spPr>
          <a:xfrm>
            <a:off x="6166600" y="6459535"/>
            <a:ext cx="141642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Sample_Type</a:t>
            </a:r>
            <a:endParaRPr lang="en-US" sz="14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C02F3D61-81AA-409F-9ED9-52A7901EBF7D}"/>
              </a:ext>
            </a:extLst>
          </p:cNvPr>
          <p:cNvSpPr/>
          <p:nvPr/>
        </p:nvSpPr>
        <p:spPr>
          <a:xfrm rot="16200000">
            <a:off x="6752859" y="5042272"/>
            <a:ext cx="243906" cy="2776817"/>
          </a:xfrm>
          <a:prstGeom prst="leftBrac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5AC5FE-5A33-8ABB-CF17-CC6C3AC9076D}"/>
              </a:ext>
            </a:extLst>
          </p:cNvPr>
          <p:cNvCxnSpPr>
            <a:cxnSpLocks/>
          </p:cNvCxnSpPr>
          <p:nvPr/>
        </p:nvCxnSpPr>
        <p:spPr>
          <a:xfrm>
            <a:off x="6166600" y="1163171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F7048B-1200-BE41-2C71-CE28500E9D5D}"/>
              </a:ext>
            </a:extLst>
          </p:cNvPr>
          <p:cNvCxnSpPr>
            <a:cxnSpLocks/>
          </p:cNvCxnSpPr>
          <p:nvPr/>
        </p:nvCxnSpPr>
        <p:spPr>
          <a:xfrm>
            <a:off x="6305553" y="1163171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69E062-C499-E53F-E1A0-6C24857A1930}"/>
              </a:ext>
            </a:extLst>
          </p:cNvPr>
          <p:cNvCxnSpPr>
            <a:cxnSpLocks/>
          </p:cNvCxnSpPr>
          <p:nvPr/>
        </p:nvCxnSpPr>
        <p:spPr>
          <a:xfrm>
            <a:off x="6877053" y="1163171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B7E543-7602-DC91-C362-7238EDCFAB1A}"/>
              </a:ext>
            </a:extLst>
          </p:cNvPr>
          <p:cNvCxnSpPr>
            <a:cxnSpLocks/>
          </p:cNvCxnSpPr>
          <p:nvPr/>
        </p:nvCxnSpPr>
        <p:spPr>
          <a:xfrm>
            <a:off x="7541562" y="1163171"/>
            <a:ext cx="0" cy="4410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204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32224-0160-6960-6971-E207295A4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cell&#10;&#10;AI-generated content may be incorrect.">
            <a:extLst>
              <a:ext uri="{FF2B5EF4-FFF2-40B4-BE49-F238E27FC236}">
                <a16:creationId xmlns:a16="http://schemas.microsoft.com/office/drawing/2014/main" id="{F97D1603-6F0D-8F47-1BA2-F38681B575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5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915ECD-849B-13CF-D238-76AD7550C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0123" y="2265436"/>
            <a:ext cx="3491753" cy="2327127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80454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2D3F0-96BE-438F-C410-39C106C3D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19E9-3607-9BCB-194E-7F0E267CC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Alpha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C37F2-B820-D93C-B674-C749F896E3F8}"/>
              </a:ext>
            </a:extLst>
          </p:cNvPr>
          <p:cNvSpPr txBox="1"/>
          <p:nvPr/>
        </p:nvSpPr>
        <p:spPr>
          <a:xfrm>
            <a:off x="838200" y="1690688"/>
            <a:ext cx="69862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Shannon’s Diversity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 +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Number of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counts among features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Observed ASVs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Counts of unique taxa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 + phylogenetic relationships between features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Pielou’s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Evenness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individuals among species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C01402-6E01-B140-6E2D-70C7F0F40EEE}"/>
              </a:ext>
            </a:extLst>
          </p:cNvPr>
          <p:cNvSpPr/>
          <p:nvPr/>
        </p:nvSpPr>
        <p:spPr>
          <a:xfrm>
            <a:off x="838200" y="3211033"/>
            <a:ext cx="7157484" cy="2838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E2CB5-3BA0-F17B-C81E-B17709C41FA3}"/>
              </a:ext>
            </a:extLst>
          </p:cNvPr>
          <p:cNvSpPr txBox="1"/>
          <p:nvPr/>
        </p:nvSpPr>
        <p:spPr>
          <a:xfrm flipH="1">
            <a:off x="9897761" y="6581001"/>
            <a:ext cx="2192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https://old-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ib.bioninja.com.au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pic>
        <p:nvPicPr>
          <p:cNvPr id="6" name="Picture 5" descr="A diagram of trees and a diagram of trees&#10;&#10;AI-generated content may be incorrect.">
            <a:extLst>
              <a:ext uri="{FF2B5EF4-FFF2-40B4-BE49-F238E27FC236}">
                <a16:creationId xmlns:a16="http://schemas.microsoft.com/office/drawing/2014/main" id="{58EC5635-5ECE-F544-0B25-0530CA6F1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38" y="3336855"/>
            <a:ext cx="6900848" cy="315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30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4BD62-7980-C046-5167-7038618D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B4A1-1530-23D3-4539-92E66C56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Alpha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A8BB5-7C0E-C28E-2A24-9CE2C8FF6472}"/>
              </a:ext>
            </a:extLst>
          </p:cNvPr>
          <p:cNvSpPr txBox="1"/>
          <p:nvPr/>
        </p:nvSpPr>
        <p:spPr>
          <a:xfrm>
            <a:off x="838200" y="1690688"/>
            <a:ext cx="69862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42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Shannon’s Diversity</a:t>
            </a:r>
            <a:r>
              <a:rPr lang="en-US" sz="2400" dirty="0">
                <a:solidFill>
                  <a:schemeClr val="tx1">
                    <a:alpha val="3042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 +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42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counts among features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Observed ASVs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Counts of unique features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 + phylogenetic relationships between features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Pielou’s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Evenness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individuals among species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A0F8-6147-C223-2585-7613ED8AFCED}"/>
              </a:ext>
            </a:extLst>
          </p:cNvPr>
          <p:cNvSpPr/>
          <p:nvPr/>
        </p:nvSpPr>
        <p:spPr>
          <a:xfrm>
            <a:off x="838200" y="3944679"/>
            <a:ext cx="7157484" cy="2105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13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4A287-392F-A9CB-C366-24C7D5ED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E5FF-13C7-4F75-F8FD-5FEB8EF21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Alpha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21F7E-A543-11A3-5E13-B1AC809BA7CC}"/>
              </a:ext>
            </a:extLst>
          </p:cNvPr>
          <p:cNvSpPr txBox="1"/>
          <p:nvPr/>
        </p:nvSpPr>
        <p:spPr>
          <a:xfrm>
            <a:off x="838200" y="1690688"/>
            <a:ext cx="69862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Shannon’s Diversity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 +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counts among features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Observed ASVs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of unique features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 + phylogenetic relationships between features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Pielou’s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Evenness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individuals among species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2BE984-A2F2-9B22-D3B0-DC91A121C7F8}"/>
              </a:ext>
            </a:extLst>
          </p:cNvPr>
          <p:cNvSpPr/>
          <p:nvPr/>
        </p:nvSpPr>
        <p:spPr>
          <a:xfrm>
            <a:off x="838200" y="5039833"/>
            <a:ext cx="7157484" cy="1010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30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D60B4-5435-2511-BF0B-7493A7CF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2202-3A49-2E3C-B78F-AA24538A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Alpha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844A3-9CFB-F967-82E0-D7C8106E5750}"/>
              </a:ext>
            </a:extLst>
          </p:cNvPr>
          <p:cNvSpPr txBox="1"/>
          <p:nvPr/>
        </p:nvSpPr>
        <p:spPr>
          <a:xfrm>
            <a:off x="838200" y="1690688"/>
            <a:ext cx="69862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Shannon’s Diversity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 +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counts among features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Observed ASVs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of unique features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 + phylogenetic relationships between features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Pielou’s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Evenness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individuals among species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93C498-CDD6-FBD8-7D19-D6867B6003FD}"/>
              </a:ext>
            </a:extLst>
          </p:cNvPr>
          <p:cNvSpPr/>
          <p:nvPr/>
        </p:nvSpPr>
        <p:spPr>
          <a:xfrm>
            <a:off x="838200" y="5039833"/>
            <a:ext cx="7157484" cy="1010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C214A-1383-8063-861E-D52737BB0BFC}"/>
              </a:ext>
            </a:extLst>
          </p:cNvPr>
          <p:cNvSpPr txBox="1"/>
          <p:nvPr/>
        </p:nvSpPr>
        <p:spPr>
          <a:xfrm>
            <a:off x="0" y="6581001"/>
            <a:ext cx="2675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sebpardo.github.io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ebirdtrees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pic>
        <p:nvPicPr>
          <p:cNvPr id="9" name="Picture 8" descr="A graph with red lines&#10;&#10;AI-generated content may be incorrect.">
            <a:extLst>
              <a:ext uri="{FF2B5EF4-FFF2-40B4-BE49-F238E27FC236}">
                <a16:creationId xmlns:a16="http://schemas.microsoft.com/office/drawing/2014/main" id="{07ABCF14-DA84-BDFE-EEFF-E3205ED42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640" y="2176540"/>
            <a:ext cx="3434080" cy="2377440"/>
          </a:xfrm>
          <a:prstGeom prst="rect">
            <a:avLst/>
          </a:prstGeom>
        </p:spPr>
      </p:pic>
      <p:pic>
        <p:nvPicPr>
          <p:cNvPr id="11" name="Picture 10" descr="A diagram with red lines and numbers&#10;&#10;AI-generated content may be incorrect.">
            <a:extLst>
              <a:ext uri="{FF2B5EF4-FFF2-40B4-BE49-F238E27FC236}">
                <a16:creationId xmlns:a16="http://schemas.microsoft.com/office/drawing/2014/main" id="{66C7A202-99A3-32FC-FB03-B333690E3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640" y="4480560"/>
            <a:ext cx="3434080" cy="2377440"/>
          </a:xfrm>
          <a:prstGeom prst="rect">
            <a:avLst/>
          </a:prstGeom>
        </p:spPr>
      </p:pic>
      <p:pic>
        <p:nvPicPr>
          <p:cNvPr id="6" name="Picture 5" descr="A graph with red lines and numbers&#10;&#10;AI-generated content may be incorrect.">
            <a:extLst>
              <a:ext uri="{FF2B5EF4-FFF2-40B4-BE49-F238E27FC236}">
                <a16:creationId xmlns:a16="http://schemas.microsoft.com/office/drawing/2014/main" id="{B84CFA45-4EE7-DFB4-3FA2-71C0AEAE17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33"/>
          <a:stretch>
            <a:fillRect/>
          </a:stretch>
        </p:blipFill>
        <p:spPr>
          <a:xfrm>
            <a:off x="8169640" y="0"/>
            <a:ext cx="3434080" cy="23148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6ED97A-927E-BE08-A9E0-08C1ED570450}"/>
              </a:ext>
            </a:extLst>
          </p:cNvPr>
          <p:cNvSpPr txBox="1"/>
          <p:nvPr/>
        </p:nvSpPr>
        <p:spPr>
          <a:xfrm>
            <a:off x="6836392" y="972751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1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1051EEBC-0D24-3DAA-0D14-F342FD52961B}"/>
              </a:ext>
            </a:extLst>
          </p:cNvPr>
          <p:cNvSpPr/>
          <p:nvPr/>
        </p:nvSpPr>
        <p:spPr>
          <a:xfrm>
            <a:off x="7995684" y="198622"/>
            <a:ext cx="240713" cy="1917590"/>
          </a:xfrm>
          <a:prstGeom prst="leftBrac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97BC20-E8A6-845B-2330-E07A103AD06F}"/>
              </a:ext>
            </a:extLst>
          </p:cNvPr>
          <p:cNvSpPr txBox="1"/>
          <p:nvPr/>
        </p:nvSpPr>
        <p:spPr>
          <a:xfrm>
            <a:off x="6836392" y="3297079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2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3C061EA8-E4CD-3D59-A647-E27A361907F5}"/>
              </a:ext>
            </a:extLst>
          </p:cNvPr>
          <p:cNvSpPr/>
          <p:nvPr/>
        </p:nvSpPr>
        <p:spPr>
          <a:xfrm>
            <a:off x="7995684" y="2522950"/>
            <a:ext cx="240713" cy="1917590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40EF19-839B-2344-FF01-2D7F904DB518}"/>
              </a:ext>
            </a:extLst>
          </p:cNvPr>
          <p:cNvSpPr txBox="1"/>
          <p:nvPr/>
        </p:nvSpPr>
        <p:spPr>
          <a:xfrm>
            <a:off x="6836392" y="551636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3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FDDF8679-92BA-5125-4D4B-78469D0000C3}"/>
              </a:ext>
            </a:extLst>
          </p:cNvPr>
          <p:cNvSpPr/>
          <p:nvPr/>
        </p:nvSpPr>
        <p:spPr>
          <a:xfrm>
            <a:off x="7995684" y="4742231"/>
            <a:ext cx="240713" cy="1917590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B8831-17E5-4A70-0E08-DA79DF95BDE3}"/>
              </a:ext>
            </a:extLst>
          </p:cNvPr>
          <p:cNvSpPr txBox="1"/>
          <p:nvPr/>
        </p:nvSpPr>
        <p:spPr>
          <a:xfrm>
            <a:off x="4416942" y="5103673"/>
            <a:ext cx="22000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PD = Sum of branch lengths between taxa in a sample</a:t>
            </a:r>
          </a:p>
        </p:txBody>
      </p:sp>
    </p:spTree>
    <p:extLst>
      <p:ext uri="{BB962C8B-B14F-4D97-AF65-F5344CB8AC3E}">
        <p14:creationId xmlns:p14="http://schemas.microsoft.com/office/powerpoint/2010/main" val="1181277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FA7DD-0011-59C4-3777-C7C4870E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0764-FB9D-7365-236E-CDB18628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Alpha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D5302-E9D5-B25D-1421-6ED9CE540512}"/>
              </a:ext>
            </a:extLst>
          </p:cNvPr>
          <p:cNvSpPr txBox="1"/>
          <p:nvPr/>
        </p:nvSpPr>
        <p:spPr>
          <a:xfrm>
            <a:off x="838200" y="1690688"/>
            <a:ext cx="69862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Shannon’s Diversity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 +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counts among features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Observed ASVs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of unique features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Faith’s Phylogenetic Diversity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 + phylogenetic relationships between features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Pielou’s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Evenness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counts among different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66173D-22B5-275A-76BE-BCE632322818}"/>
              </a:ext>
            </a:extLst>
          </p:cNvPr>
          <p:cNvSpPr txBox="1"/>
          <p:nvPr/>
        </p:nvSpPr>
        <p:spPr>
          <a:xfrm flipH="1">
            <a:off x="9452919" y="6581001"/>
            <a:ext cx="2637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LaFevor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and Pitts (2022) Agriculture</a:t>
            </a:r>
          </a:p>
        </p:txBody>
      </p:sp>
      <p:pic>
        <p:nvPicPr>
          <p:cNvPr id="8" name="Picture 7" descr="A diagram of a circle with colorful dots&#10;&#10;AI-generated content may be incorrect.">
            <a:extLst>
              <a:ext uri="{FF2B5EF4-FFF2-40B4-BE49-F238E27FC236}">
                <a16:creationId xmlns:a16="http://schemas.microsoft.com/office/drawing/2014/main" id="{6E23184C-CFB8-2772-D112-531E544B4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550"/>
          <a:stretch>
            <a:fillRect/>
          </a:stretch>
        </p:blipFill>
        <p:spPr>
          <a:xfrm>
            <a:off x="7824486" y="4312508"/>
            <a:ext cx="3198668" cy="190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58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264B7-34A9-8C73-53DE-255D0CEE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70FE-73C7-2257-24AD-DF7B3A18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Beta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A003B-A456-B674-8A1A-0B20D527477A}"/>
              </a:ext>
            </a:extLst>
          </p:cNvPr>
          <p:cNvSpPr txBox="1"/>
          <p:nvPr/>
        </p:nvSpPr>
        <p:spPr>
          <a:xfrm flipH="1">
            <a:off x="9893643" y="6581001"/>
            <a:ext cx="229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www.geeksforgeeks.org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EC043F-0644-CD64-BC1C-5BFB43B4CA4F}"/>
              </a:ext>
            </a:extLst>
          </p:cNvPr>
          <p:cNvSpPr txBox="1"/>
          <p:nvPr/>
        </p:nvSpPr>
        <p:spPr>
          <a:xfrm>
            <a:off x="838200" y="1690688"/>
            <a:ext cx="607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Jaccard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features shared or not?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Bray-Curtis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 + abundance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most abundant organisms in the community?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 + abundance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B89969-2463-91BC-E1A1-128D7E2EF4EA}"/>
              </a:ext>
            </a:extLst>
          </p:cNvPr>
          <p:cNvSpPr/>
          <p:nvPr/>
        </p:nvSpPr>
        <p:spPr>
          <a:xfrm>
            <a:off x="838200" y="2519917"/>
            <a:ext cx="7157484" cy="3530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19DD8-374E-FE61-FAA1-3115C3B07BFB}"/>
              </a:ext>
            </a:extLst>
          </p:cNvPr>
          <p:cNvGrpSpPr/>
          <p:nvPr/>
        </p:nvGrpSpPr>
        <p:grpSpPr>
          <a:xfrm>
            <a:off x="6097724" y="2730843"/>
            <a:ext cx="5841050" cy="3762032"/>
            <a:chOff x="6097724" y="2730843"/>
            <a:chExt cx="5841050" cy="3762032"/>
          </a:xfrm>
        </p:grpSpPr>
        <p:pic>
          <p:nvPicPr>
            <p:cNvPr id="6" name="Picture 5" descr="A diagram of different shapes and colors&#10;&#10;AI-generated content may be incorrect.">
              <a:extLst>
                <a:ext uri="{FF2B5EF4-FFF2-40B4-BE49-F238E27FC236}">
                  <a16:creationId xmlns:a16="http://schemas.microsoft.com/office/drawing/2014/main" id="{D6B6ECF7-293F-B9AD-7139-5A80D127B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7724" y="2730843"/>
              <a:ext cx="5841050" cy="376203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98A1C6-D46D-AAED-AA40-9DD6519BFCE0}"/>
                </a:ext>
              </a:extLst>
            </p:cNvPr>
            <p:cNvSpPr/>
            <p:nvPr/>
          </p:nvSpPr>
          <p:spPr>
            <a:xfrm>
              <a:off x="6240162" y="4423719"/>
              <a:ext cx="5698612" cy="518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6166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7FF94-D8E1-49E6-F438-9A9AD096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E625-64B8-AAC2-B87E-3CAA14590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Beta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07A13-3D5B-89DA-4C26-0D31B9BF7A43}"/>
              </a:ext>
            </a:extLst>
          </p:cNvPr>
          <p:cNvSpPr txBox="1"/>
          <p:nvPr/>
        </p:nvSpPr>
        <p:spPr>
          <a:xfrm flipH="1">
            <a:off x="11112843" y="6581001"/>
            <a:ext cx="10791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Zach Bobbitt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74CB6-744E-9595-7296-88D32E19870C}"/>
              </a:ext>
            </a:extLst>
          </p:cNvPr>
          <p:cNvSpPr txBox="1"/>
          <p:nvPr/>
        </p:nvSpPr>
        <p:spPr>
          <a:xfrm>
            <a:off x="838200" y="1690688"/>
            <a:ext cx="607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Jaccard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features shared or not?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Bray-Curtis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abundance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are the most abundant organisms in the community?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 + abundance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06DE60-B3CA-FF6F-1CDA-951F75113C23}"/>
              </a:ext>
            </a:extLst>
          </p:cNvPr>
          <p:cNvSpPr/>
          <p:nvPr/>
        </p:nvSpPr>
        <p:spPr>
          <a:xfrm>
            <a:off x="838200" y="3955311"/>
            <a:ext cx="7157484" cy="2094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89192C-E0D0-C3CF-2704-7682A1820C4D}"/>
              </a:ext>
            </a:extLst>
          </p:cNvPr>
          <p:cNvGrpSpPr/>
          <p:nvPr/>
        </p:nvGrpSpPr>
        <p:grpSpPr>
          <a:xfrm>
            <a:off x="5356055" y="3935579"/>
            <a:ext cx="6296366" cy="2515077"/>
            <a:chOff x="5356055" y="3745079"/>
            <a:chExt cx="6296366" cy="2515077"/>
          </a:xfrm>
        </p:grpSpPr>
        <p:pic>
          <p:nvPicPr>
            <p:cNvPr id="6" name="Picture 5" descr="A white background with black letters and numbers&#10;&#10;AI-generated content may be incorrect.">
              <a:extLst>
                <a:ext uri="{FF2B5EF4-FFF2-40B4-BE49-F238E27FC236}">
                  <a16:creationId xmlns:a16="http://schemas.microsoft.com/office/drawing/2014/main" id="{9CFE5D91-8DF4-CD3D-49F7-9C6859702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6055" y="3745079"/>
              <a:ext cx="6296366" cy="251507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128A95-D085-340F-791A-1226B62B3532}"/>
                </a:ext>
              </a:extLst>
            </p:cNvPr>
            <p:cNvSpPr txBox="1"/>
            <p:nvPr/>
          </p:nvSpPr>
          <p:spPr>
            <a:xfrm>
              <a:off x="9108648" y="4183977"/>
              <a:ext cx="55656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BC</a:t>
              </a:r>
            </a:p>
            <a:p>
              <a:pPr algn="ctr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1884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55678-AC68-6E27-DEBE-BB9396274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DC06A-9B97-69D1-DE10-81F1CFF8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Beta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1B190D-165E-8897-CFB1-8D54DD3BE667}"/>
              </a:ext>
            </a:extLst>
          </p:cNvPr>
          <p:cNvSpPr txBox="1"/>
          <p:nvPr/>
        </p:nvSpPr>
        <p:spPr>
          <a:xfrm>
            <a:off x="838200" y="1690688"/>
            <a:ext cx="607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Jaccard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features shared or not?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Bray-Curtis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 + abundance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most abundant organisms in the community?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 + abundance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F09E09-DA09-5064-6653-39CBA29B1761}"/>
              </a:ext>
            </a:extLst>
          </p:cNvPr>
          <p:cNvSpPr/>
          <p:nvPr/>
        </p:nvSpPr>
        <p:spPr>
          <a:xfrm>
            <a:off x="838200" y="4659044"/>
            <a:ext cx="6743700" cy="1325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89835D2-3B41-93D8-DA40-B217E19520E3}"/>
              </a:ext>
            </a:extLst>
          </p:cNvPr>
          <p:cNvGrpSpPr/>
          <p:nvPr/>
        </p:nvGrpSpPr>
        <p:grpSpPr>
          <a:xfrm>
            <a:off x="6568752" y="2566074"/>
            <a:ext cx="5372878" cy="4185939"/>
            <a:chOff x="6568752" y="2566074"/>
            <a:chExt cx="5372878" cy="418593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A4904ED-55D8-3F79-9C3D-1C6ED029E57F}"/>
                </a:ext>
              </a:extLst>
            </p:cNvPr>
            <p:cNvGrpSpPr/>
            <p:nvPr/>
          </p:nvGrpSpPr>
          <p:grpSpPr>
            <a:xfrm>
              <a:off x="6568752" y="2566074"/>
              <a:ext cx="5372878" cy="4185939"/>
              <a:chOff x="6568752" y="2566074"/>
              <a:chExt cx="5372878" cy="4185939"/>
            </a:xfrm>
          </p:grpSpPr>
          <p:pic>
            <p:nvPicPr>
              <p:cNvPr id="5" name="Picture 4" descr="A diagram of different colors&#10;&#10;AI-generated content may be incorrect.">
                <a:extLst>
                  <a:ext uri="{FF2B5EF4-FFF2-40B4-BE49-F238E27FC236}">
                    <a16:creationId xmlns:a16="http://schemas.microsoft.com/office/drawing/2014/main" id="{BD5FAAA9-E9A5-C58A-857F-4AD4F62CB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684" r="4925"/>
              <a:stretch>
                <a:fillRect/>
              </a:stretch>
            </p:blipFill>
            <p:spPr>
              <a:xfrm>
                <a:off x="6568752" y="2566074"/>
                <a:ext cx="5372878" cy="4185939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4529623-3593-1CEE-E0EF-2F68383F3987}"/>
                  </a:ext>
                </a:extLst>
              </p:cNvPr>
              <p:cNvSpPr/>
              <p:nvPr/>
            </p:nvSpPr>
            <p:spPr>
              <a:xfrm>
                <a:off x="8528180" y="4086808"/>
                <a:ext cx="3271934" cy="4001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2DBA78-9753-EF55-A538-CA8599597F7A}"/>
                  </a:ext>
                </a:extLst>
              </p:cNvPr>
              <p:cNvSpPr txBox="1"/>
              <p:nvPr/>
            </p:nvSpPr>
            <p:spPr>
              <a:xfrm>
                <a:off x="8451138" y="4086808"/>
                <a:ext cx="111921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Red vs. Yellow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714520-14D6-3CF2-D35E-732B916FC464}"/>
                  </a:ext>
                </a:extLst>
              </p:cNvPr>
              <p:cNvSpPr txBox="1"/>
              <p:nvPr/>
            </p:nvSpPr>
            <p:spPr>
              <a:xfrm>
                <a:off x="9659842" y="4086808"/>
                <a:ext cx="98456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Red vs. Blue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46FC7A-049A-05E8-F343-1F24B0C88668}"/>
                  </a:ext>
                </a:extLst>
              </p:cNvPr>
              <p:cNvSpPr txBox="1"/>
              <p:nvPr/>
            </p:nvSpPr>
            <p:spPr>
              <a:xfrm>
                <a:off x="10733894" y="4086808"/>
                <a:ext cx="11432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Yellow vs. Blue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2E9B61-E55C-7BCC-A9FC-CF958C362A76}"/>
                </a:ext>
              </a:extLst>
            </p:cNvPr>
            <p:cNvSpPr txBox="1"/>
            <p:nvPr/>
          </p:nvSpPr>
          <p:spPr>
            <a:xfrm>
              <a:off x="8212429" y="6113146"/>
              <a:ext cx="115608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Distance Matrix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42A37B-842D-6945-A86B-AFB41456ABD2}"/>
                </a:ext>
              </a:extLst>
            </p:cNvPr>
            <p:cNvSpPr txBox="1"/>
            <p:nvPr/>
          </p:nvSpPr>
          <p:spPr>
            <a:xfrm>
              <a:off x="9931379" y="4962194"/>
              <a:ext cx="55496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PCoA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E7F6CC-DF89-056B-0FB8-ABE1BBAA16E5}"/>
                </a:ext>
              </a:extLst>
            </p:cNvPr>
            <p:cNvSpPr txBox="1"/>
            <p:nvPr/>
          </p:nvSpPr>
          <p:spPr>
            <a:xfrm>
              <a:off x="9808449" y="6243951"/>
              <a:ext cx="931665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Hierarchical</a:t>
              </a:r>
            </a:p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Cluster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6959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8B60-A1F7-6EA0-5DE5-1652C6DA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78C6-947B-D444-A02A-D64D53A9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Beta</a:t>
            </a:r>
          </a:p>
        </p:txBody>
      </p:sp>
      <p:pic>
        <p:nvPicPr>
          <p:cNvPr id="5" name="Picture 4" descr="A diagram of a tree&#10;&#10;AI-generated content may be incorrect.">
            <a:extLst>
              <a:ext uri="{FF2B5EF4-FFF2-40B4-BE49-F238E27FC236}">
                <a16:creationId xmlns:a16="http://schemas.microsoft.com/office/drawing/2014/main" id="{600FE6FB-66E6-8138-6ABD-82724D539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9" t="21196" r="25663" b="-1"/>
          <a:stretch>
            <a:fillRect/>
          </a:stretch>
        </p:blipFill>
        <p:spPr>
          <a:xfrm>
            <a:off x="7454096" y="3996199"/>
            <a:ext cx="4421529" cy="19929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9626D7-2EF4-16D5-53BA-A506D776D50B}"/>
              </a:ext>
            </a:extLst>
          </p:cNvPr>
          <p:cNvSpPr txBox="1"/>
          <p:nvPr/>
        </p:nvSpPr>
        <p:spPr>
          <a:xfrm>
            <a:off x="838200" y="1690688"/>
            <a:ext cx="607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Jaccard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features shared or not?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Bray-Curtis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 + abundance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most abundant organisms in the community?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Unweighted-Unifrac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 + abundance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55C2C-ADEC-AF7F-0C1B-1693AD1B0AF9}"/>
              </a:ext>
            </a:extLst>
          </p:cNvPr>
          <p:cNvSpPr txBox="1"/>
          <p:nvPr/>
        </p:nvSpPr>
        <p:spPr>
          <a:xfrm>
            <a:off x="7824486" y="3605191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Unweighted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0F317-24C0-D3E3-47F2-72EE9E20C5F3}"/>
              </a:ext>
            </a:extLst>
          </p:cNvPr>
          <p:cNvSpPr txBox="1"/>
          <p:nvPr/>
        </p:nvSpPr>
        <p:spPr>
          <a:xfrm>
            <a:off x="9800267" y="3051193"/>
            <a:ext cx="2005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Branch lengths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by abundance</a:t>
            </a:r>
          </a:p>
        </p:txBody>
      </p:sp>
    </p:spTree>
    <p:extLst>
      <p:ext uri="{BB962C8B-B14F-4D97-AF65-F5344CB8AC3E}">
        <p14:creationId xmlns:p14="http://schemas.microsoft.com/office/powerpoint/2010/main" val="4065936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1075</Words>
  <Application>Microsoft Macintosh PowerPoint</Application>
  <PresentationFormat>Widescreen</PresentationFormat>
  <Paragraphs>212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Courier New</vt:lpstr>
      <vt:lpstr>Office Theme</vt:lpstr>
      <vt:lpstr>Lecture 2:  Taxonomy, alignment, phylogeny, diversity metrics</vt:lpstr>
      <vt:lpstr>ASV-Table Demo</vt:lpstr>
      <vt:lpstr>Breaking down this script…</vt:lpstr>
      <vt:lpstr>Sequence alignment and masking</vt:lpstr>
      <vt:lpstr>Breaking down this script…</vt:lpstr>
      <vt:lpstr>Constructing phylogeny of microbial sequences</vt:lpstr>
      <vt:lpstr>Constructing phylogeny of microbial sequences</vt:lpstr>
      <vt:lpstr>Breaking down this script…</vt:lpstr>
      <vt:lpstr>Constructing phylogeny of microbial sequences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Diversity Metrics: Alpha</vt:lpstr>
      <vt:lpstr>Diversity Metrics: Alpha</vt:lpstr>
      <vt:lpstr>Diversity Metrics: Alpha</vt:lpstr>
      <vt:lpstr>Diversity Metrics: Alpha</vt:lpstr>
      <vt:lpstr>Diversity Metrics: Alpha</vt:lpstr>
      <vt:lpstr>Diversity Metrics: Beta</vt:lpstr>
      <vt:lpstr>Diversity Metrics: Beta</vt:lpstr>
      <vt:lpstr>Diversity Metrics: Beta</vt:lpstr>
      <vt:lpstr>Diversity Metrics: Beta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Sierra Smith</dc:creator>
  <cp:lastModifiedBy>Sierra Smith</cp:lastModifiedBy>
  <cp:revision>45</cp:revision>
  <dcterms:created xsi:type="dcterms:W3CDTF">2026-02-17T17:32:28Z</dcterms:created>
  <dcterms:modified xsi:type="dcterms:W3CDTF">2026-03-11T16:55:37Z</dcterms:modified>
</cp:coreProperties>
</file>