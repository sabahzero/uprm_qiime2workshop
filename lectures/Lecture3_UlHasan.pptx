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2"/>
  </p:notesMasterIdLst>
  <p:sldIdLst>
    <p:sldId id="2237" r:id="rId2"/>
    <p:sldId id="294" r:id="rId3"/>
    <p:sldId id="2254" r:id="rId4"/>
    <p:sldId id="2255" r:id="rId5"/>
    <p:sldId id="2256" r:id="rId6"/>
    <p:sldId id="2221" r:id="rId7"/>
    <p:sldId id="2252" r:id="rId8"/>
    <p:sldId id="2244" r:id="rId9"/>
    <p:sldId id="2245" r:id="rId10"/>
    <p:sldId id="2246" r:id="rId11"/>
    <p:sldId id="2247" r:id="rId12"/>
    <p:sldId id="2248" r:id="rId13"/>
    <p:sldId id="2249" r:id="rId14"/>
    <p:sldId id="2250" r:id="rId15"/>
    <p:sldId id="2251" r:id="rId16"/>
    <p:sldId id="2238" r:id="rId17"/>
    <p:sldId id="2258" r:id="rId18"/>
    <p:sldId id="2239" r:id="rId19"/>
    <p:sldId id="2259" r:id="rId20"/>
    <p:sldId id="224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C3D4D6"/>
    <a:srgbClr val="9CA483"/>
    <a:srgbClr val="655B46"/>
    <a:srgbClr val="BAB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79435"/>
  </p:normalViewPr>
  <p:slideViewPr>
    <p:cSldViewPr snapToGrid="0">
      <p:cViewPr varScale="1">
        <p:scale>
          <a:sx n="67" d="100"/>
          <a:sy n="67" d="100"/>
        </p:scale>
        <p:origin x="19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B5B49-9746-BB4D-AA52-42DFB44D1781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856D-571C-5749-A465-CF003054A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02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71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34658-8F35-4A66-643A-18624B31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0480F-C402-091C-D3F1-2AB532396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17937-AF65-35FF-F7D4-3AA11A26D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FB72F-6CD2-541A-77AC-636840A6B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19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0271-2EDE-2795-C249-2850C0A3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4FECE-090A-893D-1847-24A6CDF77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CE49C-87EB-95CA-C0B1-1557F60AE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2B46B-0A48-EB1B-7996-2A39350CC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45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FB8C-E95B-B323-776E-0AE3BBC3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154C3-E5C4-9EF5-8040-9C16DA4CF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69411-202E-1D84-86A6-DD1D091A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41672-B010-959D-2EFD-46E201E66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9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8B79-A58B-10E5-3BF6-CFD7BF7B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BCC31-227D-E7CB-E9A9-5E28C97F9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B067B-0FAE-5C3E-819A-944AD6D9A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0A8FF-1BF6-2633-E638-394EA4106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24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71D2D-1F00-8D80-3F63-DED0D72B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9AF9C-8E0F-D435-6A38-2D8C1B057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C6FFE-7130-8D3D-382D-06D62F0D2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80BF1-7AE9-C080-A4FA-53C37E652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5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7CBA-FBAD-C00A-2ACD-C1404D42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AE25F-CD5D-AF72-2F20-CD6349694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F3B60-FB8D-1603-61AC-8478A451A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2767-A3F2-26ED-97F0-3DE7A90D0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4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4064C-87E8-ECBE-6E03-032D0C4E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55172-BE70-3884-470B-25E7749EB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93917-3F75-E68B-4D30-3C2ACEAC9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B373F-BDF2-C758-207A-54ACEDBE3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90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AB23-A2A2-0981-C373-21BCDE634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C6D1B-2535-A657-CC7B-7CE09B2E3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F761-3A35-B15C-932E-CD83AF0D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6363-DBFF-0445-A92B-3D01187C0523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B1DAE-8147-44FD-730B-E8C46AB9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715BB-BEAE-80CE-064B-C0352CBA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2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C3D4-E485-9F22-495B-AD251C31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4EE4-E86A-BA8D-DCBB-3ABF98CDD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8FCBF-4EBA-C43F-C245-177BDD78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07E83-1DB1-B64B-9D6B-16DDFD96D9C4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34DA1-FFE2-E7E1-8682-23B5CACA3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A9F54-FC29-3C1D-2BE2-768F871B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5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23BA-52B7-5D4C-B768-93418175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7DFFA-F825-E291-8A32-E17E47569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1CA31-E2ED-F790-360B-8214AB70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5407-A7C3-ED4C-BE90-F572D0287D47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2C177-3EB4-4FE9-537E-5FB5F607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8BAC-B3D4-0D1E-3181-89920378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3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E404-17FF-308C-98CD-6A693B85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20CA2-BEA5-032F-3502-1BF352311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F0328-010E-9B64-3071-990D7497E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6ABEE-C691-9CFF-EB62-80978DCB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991FD-072F-E247-A23C-B39AD2C064E0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7E894-1BC2-7A31-ACAC-D0A1FB2E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48F90-98EB-F7FE-CBF0-C1DD9702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1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4B52-4B6D-EC7E-F668-0FD04CF2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AC271-A0EE-54A9-DAE3-8F65C09E1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3C1C5-19D1-DB0F-3FD3-D9A32C30F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07077-A36A-3448-7B62-E600049B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B1A09-2416-F1B0-55E3-466B07FFC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7B72E-30F8-9397-28DD-119C8F6BB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2A71-351F-7645-9FB6-24649103B0AD}" type="datetime1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FBBFD-143E-1F4F-9326-22FAD75D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2FDBBB-A9F3-651C-60D7-4BCC94C4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0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937BB-9904-2C70-BCC7-FD2A2BAA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E6FB3-4A15-B99A-1466-4D67EEC2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E215E-438D-ED4F-A6D8-DEE9CE867F74}" type="datetime1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F1AF0-1260-476D-0C35-855DCD7AC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8F071-5211-62F6-3A5D-782898FC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1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872A5-AA14-7CA2-197A-5B39B5CC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0ED0-EC73-284A-BFD7-2CA0D63C77EC}" type="datetime1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5B83E-0475-511E-9E66-3676A3D5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1981A-0613-B4C0-B886-6D6184A1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41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EC47-1386-E3A2-EBC0-83B93B9A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B795C-8723-ACBA-55CA-A9AFA7204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0CE94-375E-070E-DB40-DDC70BE21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181F2-17E2-D9F2-CC24-BFBCF1D0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4520-449E-D04E-98C6-12047F2867A8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89F85-7D3B-0FC5-E9BD-DD731CAF0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E165D-4BA7-5E5E-A2FE-8E478292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2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E87C-FD6B-5F29-52F1-67B83F01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B27D9-D6A6-41CA-9C15-59D7BF28F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D4BEB-2476-3736-4443-5CC74591E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AE2D9-E57C-1942-B867-E49C9085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0BB6-D8C9-5741-9A2A-708D1867EAD5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2374C-D19A-011C-E650-3C2C236F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2019B-9BEB-4957-623C-B8407E63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8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1ACE-6CDA-8D41-CAC6-EF44A654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EFE92-29F8-C187-FBE2-4FCFE0766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53A10-3CAE-0DAE-2CC0-A0180E5E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FA39-0341-FF46-ADDC-8086B2344C32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48CC7-E549-2109-8FA3-C7AEA21E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B564-F875-0224-298C-5B4D838A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7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BAD3C-0B07-66FA-C1E9-32D183532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B354-2571-44F5-4AF0-95D34F3E7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9A5C7-2BA9-0267-3F4E-4295EF64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6BDC-031F-854F-A1E3-49B14A8AF8DA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74A3-817C-CE29-F1B1-F49DD03A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0A828-F7AE-9E82-0861-DD219D92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3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D4EA6-7882-BEA9-8EB3-2B6E02FC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2C5FE-ADA4-9ABD-A5D8-E6EE7657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93715-0923-BD32-7481-4C6A62F5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81440-1A9F-DC4F-8224-53B0BFA7DADD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018A6-C370-BBE7-94B1-C54932C46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7997E-03F6-D0EC-7FFF-BC475C1B9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13B74-2CD1-074C-84D2-FF26F00FE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iQLJTJPLx7PksAVR6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biome.github.io/tutorials/" TargetMode="External"/><Relationship Id="rId2" Type="http://schemas.openxmlformats.org/officeDocument/2006/relationships/hyperlink" Target="https://r-graph-gallery.com/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biome.github.io/tutorials/" TargetMode="External"/><Relationship Id="rId2" Type="http://schemas.openxmlformats.org/officeDocument/2006/relationships/hyperlink" Target="https://r-graph-gallery.com/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biome.github.io/tutorials/" TargetMode="External"/><Relationship Id="rId2" Type="http://schemas.openxmlformats.org/officeDocument/2006/relationships/hyperlink" Target="https://r-graph-gallery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ea creature on a shell&#10;&#10;AI-generated content may be incorrect.">
            <a:extLst>
              <a:ext uri="{FF2B5EF4-FFF2-40B4-BE49-F238E27FC236}">
                <a16:creationId xmlns:a16="http://schemas.microsoft.com/office/drawing/2014/main" id="{6E196981-59A4-5ECB-0CBE-E1BD1B03F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" t="3460" b="218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85C86F-6949-253F-2812-7D631E272BDD}"/>
              </a:ext>
            </a:extLst>
          </p:cNvPr>
          <p:cNvSpPr txBox="1"/>
          <p:nvPr/>
        </p:nvSpPr>
        <p:spPr>
          <a:xfrm>
            <a:off x="657225" y="292478"/>
            <a:ext cx="10877550" cy="820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Testing and Visualization in R </a:t>
            </a:r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D082C-BB9F-5619-8075-8CD3523C2654}"/>
              </a:ext>
            </a:extLst>
          </p:cNvPr>
          <p:cNvSpPr txBox="1"/>
          <p:nvPr/>
        </p:nvSpPr>
        <p:spPr>
          <a:xfrm>
            <a:off x="209550" y="5834137"/>
            <a:ext cx="401955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Sabah Ul-Hasan, Ph.D.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Puerto Rico, Mayaguez</a:t>
            </a:r>
          </a:p>
        </p:txBody>
      </p:sp>
    </p:spTree>
    <p:extLst>
      <p:ext uri="{BB962C8B-B14F-4D97-AF65-F5344CB8AC3E}">
        <p14:creationId xmlns:p14="http://schemas.microsoft.com/office/powerpoint/2010/main" val="98401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14A0-4ECF-3962-3189-A27F96C2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4B383F-972D-EA01-05F5-3737B2A692D8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70FB20F2-C56D-3F98-0B6E-4FB6DEDD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20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AA34B-C0A9-A8EA-95B1-C7391A82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FCA7EE-0FD2-1D23-D590-753F7A37E09B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What AI did: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On the right track, but ~75% correct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31101A4C-41AD-B585-940F-4A9E535E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0DEC8E1A-CF7A-1FA5-9C76-824709CFA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402" y="800731"/>
            <a:ext cx="7211196" cy="605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66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6868-4CF1-39F9-6159-7FEA5DF7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C5F5CC-2ADB-4A3C-9486-283408C67550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Utilizing AI as a tool </a:t>
            </a:r>
            <a:r>
              <a:rPr lang="en-US" i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*you can be lazy, but you need to fact-check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19272A45-8B55-E889-484F-C0520004C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3" name="Picture 12" descr="A diagram of a company&#10;&#10;AI-generated content may be incorrect.">
            <a:extLst>
              <a:ext uri="{FF2B5EF4-FFF2-40B4-BE49-F238E27FC236}">
                <a16:creationId xmlns:a16="http://schemas.microsoft.com/office/drawing/2014/main" id="{926BFAD7-2374-06F5-5448-C0AE62889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51" t="5689" r="45641" b="90517"/>
          <a:stretch>
            <a:fillRect/>
          </a:stretch>
        </p:blipFill>
        <p:spPr>
          <a:xfrm>
            <a:off x="753714" y="5126485"/>
            <a:ext cx="1746218" cy="896086"/>
          </a:xfrm>
          <a:prstGeom prst="rect">
            <a:avLst/>
          </a:prstGeom>
        </p:spPr>
      </p:pic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1812EE11-681E-43E3-3523-C151E29937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712" t="16849" r="46173" b="79357"/>
          <a:stretch>
            <a:fillRect/>
          </a:stretch>
        </p:blipFill>
        <p:spPr>
          <a:xfrm>
            <a:off x="3455356" y="3407942"/>
            <a:ext cx="1386975" cy="863906"/>
          </a:xfrm>
          <a:prstGeom prst="rect">
            <a:avLst/>
          </a:prstGeom>
        </p:spPr>
      </p:pic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13D63E18-5F72-106D-1014-9B6BEB29E8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99" t="11042" r="45693" b="85164"/>
          <a:stretch>
            <a:fillRect/>
          </a:stretch>
        </p:blipFill>
        <p:spPr>
          <a:xfrm>
            <a:off x="3275733" y="4678442"/>
            <a:ext cx="1746219" cy="896086"/>
          </a:xfrm>
          <a:prstGeom prst="rect">
            <a:avLst/>
          </a:prstGeom>
        </p:spPr>
      </p:pic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7C611AF8-06F7-9608-46C2-8D4CF09D0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265" t="16948" r="12527" b="79258"/>
          <a:stretch>
            <a:fillRect/>
          </a:stretch>
        </p:blipFill>
        <p:spPr>
          <a:xfrm>
            <a:off x="753714" y="3119081"/>
            <a:ext cx="1683509" cy="863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736C64-79B6-EA70-314A-4D3257B83B73}"/>
              </a:ext>
            </a:extLst>
          </p:cNvPr>
          <p:cNvSpPr txBox="1"/>
          <p:nvPr/>
        </p:nvSpPr>
        <p:spPr>
          <a:xfrm>
            <a:off x="834681" y="4589094"/>
            <a:ext cx="1584285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Illumina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1C4D2-EF0C-8B96-CFEE-B53A28402FC8}"/>
              </a:ext>
            </a:extLst>
          </p:cNvPr>
          <p:cNvSpPr txBox="1"/>
          <p:nvPr/>
        </p:nvSpPr>
        <p:spPr>
          <a:xfrm>
            <a:off x="578805" y="1291204"/>
            <a:ext cx="2162236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90572-9471-3D3D-B512-9B444F536503}"/>
              </a:ext>
            </a:extLst>
          </p:cNvPr>
          <p:cNvSpPr txBox="1"/>
          <p:nvPr/>
        </p:nvSpPr>
        <p:spPr>
          <a:xfrm>
            <a:off x="803325" y="4055865"/>
            <a:ext cx="1584285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847DB-E42C-0D49-33B8-F3D80017EC9B}"/>
              </a:ext>
            </a:extLst>
          </p:cNvPr>
          <p:cNvSpPr txBox="1"/>
          <p:nvPr/>
        </p:nvSpPr>
        <p:spPr>
          <a:xfrm>
            <a:off x="2200427" y="4027075"/>
            <a:ext cx="1584285" cy="638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sz="27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597B5-45FA-8961-7794-FED9E940F24B}"/>
              </a:ext>
            </a:extLst>
          </p:cNvPr>
          <p:cNvSpPr txBox="1"/>
          <p:nvPr/>
        </p:nvSpPr>
        <p:spPr>
          <a:xfrm>
            <a:off x="3025669" y="1285877"/>
            <a:ext cx="2162236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Pre-processing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B13764-6514-A9E6-728F-D6BD35F9A447}"/>
              </a:ext>
            </a:extLst>
          </p:cNvPr>
          <p:cNvCxnSpPr/>
          <p:nvPr/>
        </p:nvCxnSpPr>
        <p:spPr>
          <a:xfrm>
            <a:off x="4164884" y="4324560"/>
            <a:ext cx="0" cy="31935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7806AD-E616-3730-92E9-90724FE832D8}"/>
              </a:ext>
            </a:extLst>
          </p:cNvPr>
          <p:cNvSpPr txBox="1"/>
          <p:nvPr/>
        </p:nvSpPr>
        <p:spPr>
          <a:xfrm>
            <a:off x="4641479" y="4055865"/>
            <a:ext cx="1584285" cy="638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sz="27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 descr="A diagram of a company&#10;&#10;AI-generated content may be incorrect.">
            <a:extLst>
              <a:ext uri="{FF2B5EF4-FFF2-40B4-BE49-F238E27FC236}">
                <a16:creationId xmlns:a16="http://schemas.microsoft.com/office/drawing/2014/main" id="{A037EEB7-19B2-BF1A-376C-62AE23C72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78" t="24915" r="44914" b="71291"/>
          <a:stretch>
            <a:fillRect/>
          </a:stretch>
        </p:blipFill>
        <p:spPr>
          <a:xfrm>
            <a:off x="5764520" y="4013810"/>
            <a:ext cx="1746219" cy="896086"/>
          </a:xfrm>
          <a:prstGeom prst="rect">
            <a:avLst/>
          </a:prstGeom>
        </p:spPr>
      </p:pic>
      <p:pic>
        <p:nvPicPr>
          <p:cNvPr id="18" name="Picture 17" descr="A diagram of a company&#10;&#10;AI-generated content may be incorrect.">
            <a:extLst>
              <a:ext uri="{FF2B5EF4-FFF2-40B4-BE49-F238E27FC236}">
                <a16:creationId xmlns:a16="http://schemas.microsoft.com/office/drawing/2014/main" id="{F42E326C-0EE3-347D-5E3B-79B8A67208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86" t="30773" r="44357" b="64364"/>
          <a:stretch>
            <a:fillRect/>
          </a:stretch>
        </p:blipFill>
        <p:spPr>
          <a:xfrm>
            <a:off x="7620670" y="3997001"/>
            <a:ext cx="1655213" cy="944334"/>
          </a:xfrm>
          <a:prstGeom prst="rect">
            <a:avLst/>
          </a:prstGeom>
        </p:spPr>
      </p:pic>
      <p:pic>
        <p:nvPicPr>
          <p:cNvPr id="20" name="Picture 19" descr="A diagram of a company&#10;&#10;AI-generated content may be incorrect.">
            <a:extLst>
              <a:ext uri="{FF2B5EF4-FFF2-40B4-BE49-F238E27FC236}">
                <a16:creationId xmlns:a16="http://schemas.microsoft.com/office/drawing/2014/main" id="{AA6564B6-1F77-0D25-2B7B-793D03C118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801" t="42522" r="52428" b="53684"/>
          <a:stretch>
            <a:fillRect/>
          </a:stretch>
        </p:blipFill>
        <p:spPr>
          <a:xfrm>
            <a:off x="9385814" y="3063096"/>
            <a:ext cx="1904474" cy="896086"/>
          </a:xfrm>
          <a:prstGeom prst="rect">
            <a:avLst/>
          </a:prstGeom>
        </p:spPr>
      </p:pic>
      <p:pic>
        <p:nvPicPr>
          <p:cNvPr id="21" name="Picture 20" descr="A diagram of a company&#10;&#10;AI-generated content may be incorrect.">
            <a:extLst>
              <a:ext uri="{FF2B5EF4-FFF2-40B4-BE49-F238E27FC236}">
                <a16:creationId xmlns:a16="http://schemas.microsoft.com/office/drawing/2014/main" id="{1749B804-88F3-308A-5F3A-E909023E4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25" t="42548" r="45274" b="53658"/>
          <a:stretch>
            <a:fillRect/>
          </a:stretch>
        </p:blipFill>
        <p:spPr>
          <a:xfrm>
            <a:off x="9550343" y="4048912"/>
            <a:ext cx="1575417" cy="896086"/>
          </a:xfrm>
          <a:prstGeom prst="rect">
            <a:avLst/>
          </a:prstGeom>
        </p:spPr>
      </p:pic>
      <p:pic>
        <p:nvPicPr>
          <p:cNvPr id="22" name="Picture 21" descr="A diagram of a company&#10;&#10;AI-generated content may be incorrect.">
            <a:extLst>
              <a:ext uri="{FF2B5EF4-FFF2-40B4-BE49-F238E27FC236}">
                <a16:creationId xmlns:a16="http://schemas.microsoft.com/office/drawing/2014/main" id="{DCE34706-58A3-F0F0-E9F9-900B331C09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81" t="42607" r="36718" b="53599"/>
          <a:stretch>
            <a:fillRect/>
          </a:stretch>
        </p:blipFill>
        <p:spPr>
          <a:xfrm>
            <a:off x="9424081" y="5043785"/>
            <a:ext cx="1866207" cy="10614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B84901-6645-7EBF-5865-394B257AFCE9}"/>
              </a:ext>
            </a:extLst>
          </p:cNvPr>
          <p:cNvSpPr txBox="1"/>
          <p:nvPr/>
        </p:nvSpPr>
        <p:spPr>
          <a:xfrm>
            <a:off x="514349" y="2559646"/>
            <a:ext cx="2162236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Field Work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0F575D-6EAE-179C-D875-2B45B2117BB3}"/>
              </a:ext>
            </a:extLst>
          </p:cNvPr>
          <p:cNvSpPr txBox="1"/>
          <p:nvPr/>
        </p:nvSpPr>
        <p:spPr>
          <a:xfrm>
            <a:off x="5433621" y="1285877"/>
            <a:ext cx="2162236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QIIME2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8727B7-6F8C-0D57-8933-1EBE5CCC9635}"/>
              </a:ext>
            </a:extLst>
          </p:cNvPr>
          <p:cNvSpPr txBox="1"/>
          <p:nvPr/>
        </p:nvSpPr>
        <p:spPr>
          <a:xfrm>
            <a:off x="7261845" y="1285876"/>
            <a:ext cx="2162236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More QC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F8749F-1F6A-FB9B-1F0C-C28CD8C5001F}"/>
              </a:ext>
            </a:extLst>
          </p:cNvPr>
          <p:cNvSpPr txBox="1"/>
          <p:nvPr/>
        </p:nvSpPr>
        <p:spPr>
          <a:xfrm>
            <a:off x="9200679" y="1090496"/>
            <a:ext cx="2162236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Biological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2082D1-9A09-5BC5-7CDD-D931DE03BF79}"/>
              </a:ext>
            </a:extLst>
          </p:cNvPr>
          <p:cNvSpPr txBox="1"/>
          <p:nvPr/>
        </p:nvSpPr>
        <p:spPr>
          <a:xfrm>
            <a:off x="200737" y="571745"/>
            <a:ext cx="10877550" cy="638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Session 1</a:t>
            </a:r>
          </a:p>
        </p:txBody>
      </p:sp>
    </p:spTree>
    <p:extLst>
      <p:ext uri="{BB962C8B-B14F-4D97-AF65-F5344CB8AC3E}">
        <p14:creationId xmlns:p14="http://schemas.microsoft.com/office/powerpoint/2010/main" val="1644807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D088-1696-11E9-E9D0-5BFD2349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0BA7FB-5B46-6FB3-0928-1E06416CEE40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Remainder Community Analyses Workflow</a:t>
            </a:r>
            <a:endParaRPr lang="en-US" i="1" dirty="0"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2A13F113-E709-7F4B-AC3A-AF11F2EA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4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1" name="Picture 10" descr="A diagram of a company&#10;&#10;AI-generated content may be incorrect.">
            <a:extLst>
              <a:ext uri="{FF2B5EF4-FFF2-40B4-BE49-F238E27FC236}">
                <a16:creationId xmlns:a16="http://schemas.microsoft.com/office/drawing/2014/main" id="{B2637888-7812-9AEE-DCD6-57ED04B4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46" t="51015" r="16146" b="45191"/>
          <a:stretch>
            <a:fillRect/>
          </a:stretch>
        </p:blipFill>
        <p:spPr>
          <a:xfrm>
            <a:off x="7040214" y="3524250"/>
            <a:ext cx="1683509" cy="863906"/>
          </a:xfrm>
          <a:prstGeom prst="rect">
            <a:avLst/>
          </a:prstGeom>
        </p:spPr>
      </p:pic>
      <p:pic>
        <p:nvPicPr>
          <p:cNvPr id="16" name="Picture 15" descr="A diagram of a company&#10;&#10;AI-generated content may be incorrect.">
            <a:extLst>
              <a:ext uri="{FF2B5EF4-FFF2-40B4-BE49-F238E27FC236}">
                <a16:creationId xmlns:a16="http://schemas.microsoft.com/office/drawing/2014/main" id="{7297797E-756E-9EC7-9888-4C8BCD186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935" t="51015" r="7857" b="45191"/>
          <a:stretch>
            <a:fillRect/>
          </a:stretch>
        </p:blipFill>
        <p:spPr>
          <a:xfrm>
            <a:off x="7085502" y="4549369"/>
            <a:ext cx="1683509" cy="863906"/>
          </a:xfrm>
          <a:prstGeom prst="rect">
            <a:avLst/>
          </a:prstGeom>
        </p:spPr>
      </p:pic>
      <p:pic>
        <p:nvPicPr>
          <p:cNvPr id="19" name="Picture 18" descr="A diagram of a company&#10;&#10;AI-generated content may be incorrect.">
            <a:extLst>
              <a:ext uri="{FF2B5EF4-FFF2-40B4-BE49-F238E27FC236}">
                <a16:creationId xmlns:a16="http://schemas.microsoft.com/office/drawing/2014/main" id="{25FFBD91-3E8D-9371-C34F-1D5424A2C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087" t="57485" r="7705" b="38721"/>
          <a:stretch>
            <a:fillRect/>
          </a:stretch>
        </p:blipFill>
        <p:spPr>
          <a:xfrm>
            <a:off x="1310217" y="4033481"/>
            <a:ext cx="1683509" cy="863906"/>
          </a:xfrm>
          <a:prstGeom prst="rect">
            <a:avLst/>
          </a:prstGeom>
        </p:spPr>
      </p:pic>
      <p:pic>
        <p:nvPicPr>
          <p:cNvPr id="29" name="Picture 28" descr="A diagram of a company&#10;&#10;AI-generated content may be incorrect.">
            <a:extLst>
              <a:ext uri="{FF2B5EF4-FFF2-40B4-BE49-F238E27FC236}">
                <a16:creationId xmlns:a16="http://schemas.microsoft.com/office/drawing/2014/main" id="{F3AAAD52-2992-CD75-1248-6E961F3D6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686" t="51144" r="55106" b="45062"/>
          <a:stretch>
            <a:fillRect/>
          </a:stretch>
        </p:blipFill>
        <p:spPr>
          <a:xfrm>
            <a:off x="4009986" y="4033481"/>
            <a:ext cx="1683509" cy="86390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A969704-D671-84E6-F36B-3DC428D62FED}"/>
              </a:ext>
            </a:extLst>
          </p:cNvPr>
          <p:cNvSpPr txBox="1"/>
          <p:nvPr/>
        </p:nvSpPr>
        <p:spPr>
          <a:xfrm>
            <a:off x="1070853" y="2014570"/>
            <a:ext cx="2162236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Getting a General Idea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F01B46-0DC6-8D2E-EE65-BD4D228A5BB0}"/>
              </a:ext>
            </a:extLst>
          </p:cNvPr>
          <p:cNvSpPr txBox="1"/>
          <p:nvPr/>
        </p:nvSpPr>
        <p:spPr>
          <a:xfrm>
            <a:off x="3770622" y="2268485"/>
            <a:ext cx="2162236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Import into R</a:t>
            </a:r>
          </a:p>
        </p:txBody>
      </p:sp>
      <p:pic>
        <p:nvPicPr>
          <p:cNvPr id="32" name="Picture 31" descr="A diagram of a company&#10;&#10;AI-generated content may be incorrect.">
            <a:extLst>
              <a:ext uri="{FF2B5EF4-FFF2-40B4-BE49-F238E27FC236}">
                <a16:creationId xmlns:a16="http://schemas.microsoft.com/office/drawing/2014/main" id="{12FE884B-C68D-B44D-08B1-9D0BEF951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33" t="75431" r="78159" b="20775"/>
          <a:stretch>
            <a:fillRect/>
          </a:stretch>
        </p:blipFill>
        <p:spPr>
          <a:xfrm>
            <a:off x="8943516" y="4549369"/>
            <a:ext cx="1683509" cy="863906"/>
          </a:xfrm>
          <a:prstGeom prst="rect">
            <a:avLst/>
          </a:prstGeom>
        </p:spPr>
      </p:pic>
      <p:pic>
        <p:nvPicPr>
          <p:cNvPr id="33" name="Picture 32" descr="A diagram of a company&#10;&#10;AI-generated content may be incorrect.">
            <a:extLst>
              <a:ext uri="{FF2B5EF4-FFF2-40B4-BE49-F238E27FC236}">
                <a16:creationId xmlns:a16="http://schemas.microsoft.com/office/drawing/2014/main" id="{EBE5849B-102D-F8AA-E8D7-DFD16A5B83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801" t="75348" r="21390" b="20858"/>
          <a:stretch>
            <a:fillRect/>
          </a:stretch>
        </p:blipFill>
        <p:spPr>
          <a:xfrm>
            <a:off x="8943516" y="3524250"/>
            <a:ext cx="1683509" cy="86390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2CC907B-9200-0AB4-518D-C5C8F7825EA3}"/>
              </a:ext>
            </a:extLst>
          </p:cNvPr>
          <p:cNvSpPr txBox="1"/>
          <p:nvPr/>
        </p:nvSpPr>
        <p:spPr>
          <a:xfrm>
            <a:off x="6820959" y="1663779"/>
            <a:ext cx="3896104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Pairing visualizations with your statistics for insight into the core community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6AEB63-18A7-5B0F-DB3A-CEDDC24912D3}"/>
              </a:ext>
            </a:extLst>
          </p:cNvPr>
          <p:cNvSpPr txBox="1"/>
          <p:nvPr/>
        </p:nvSpPr>
        <p:spPr>
          <a:xfrm>
            <a:off x="2709714" y="4047412"/>
            <a:ext cx="1584285" cy="638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sz="27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D4D4C1-5266-0AD7-B254-2A3E2E168478}"/>
              </a:ext>
            </a:extLst>
          </p:cNvPr>
          <p:cNvSpPr txBox="1"/>
          <p:nvPr/>
        </p:nvSpPr>
        <p:spPr>
          <a:xfrm>
            <a:off x="5552068" y="4068805"/>
            <a:ext cx="1584285" cy="638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sz="27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971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DDDC-74A6-A651-9F6F-8DD7C91D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D01262-EA5F-7642-A634-FB5B0F970F3F}"/>
              </a:ext>
            </a:extLst>
          </p:cNvPr>
          <p:cNvSpPr txBox="1"/>
          <p:nvPr/>
        </p:nvSpPr>
        <p:spPr>
          <a:xfrm>
            <a:off x="657225" y="253365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Another amazing poll!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6F1D06-D99C-C088-6C32-260DD06B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5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03C29-ECC7-8CEC-5B5C-E56F2BF098F3}"/>
              </a:ext>
            </a:extLst>
          </p:cNvPr>
          <p:cNvSpPr txBox="1"/>
          <p:nvPr/>
        </p:nvSpPr>
        <p:spPr>
          <a:xfrm>
            <a:off x="657225" y="3285541"/>
            <a:ext cx="10877550" cy="59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https://forms.gle/iQLJTJPLx7PksAVR6</a:t>
            </a:r>
            <a: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346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89F8-3958-78A9-5AED-ED1D48FD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BC822D-0A3D-8D2D-F86A-B59D8837E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5" t="23433" r="49381"/>
          <a:stretch>
            <a:fillRect/>
          </a:stretch>
        </p:blipFill>
        <p:spPr>
          <a:xfrm>
            <a:off x="5118984" y="1014453"/>
            <a:ext cx="5627517" cy="558319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764257-E9B3-28C9-E4D5-D2127B7889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45" b="85748"/>
          <a:stretch>
            <a:fillRect/>
          </a:stretch>
        </p:blipFill>
        <p:spPr>
          <a:xfrm>
            <a:off x="5118984" y="260357"/>
            <a:ext cx="5627516" cy="636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4A2C09-E8D9-EF5F-79F3-B135E25C1EC1}"/>
              </a:ext>
            </a:extLst>
          </p:cNvPr>
          <p:cNvSpPr txBox="1"/>
          <p:nvPr/>
        </p:nvSpPr>
        <p:spPr>
          <a:xfrm>
            <a:off x="6166600" y="6459535"/>
            <a:ext cx="14164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Sample_Type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8BEAD8F-0017-A55F-2466-B06D364B4F1C}"/>
              </a:ext>
            </a:extLst>
          </p:cNvPr>
          <p:cNvSpPr/>
          <p:nvPr/>
        </p:nvSpPr>
        <p:spPr>
          <a:xfrm rot="16200000">
            <a:off x="6752859" y="5042272"/>
            <a:ext cx="243906" cy="2776817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C2C102-E2ED-B14C-8339-43C9D382BFB3}"/>
              </a:ext>
            </a:extLst>
          </p:cNvPr>
          <p:cNvCxnSpPr>
            <a:cxnSpLocks/>
          </p:cNvCxnSpPr>
          <p:nvPr/>
        </p:nvCxnSpPr>
        <p:spPr>
          <a:xfrm>
            <a:off x="6166600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419A5B-6C0F-A2B3-8B5B-E312CEC31B3D}"/>
              </a:ext>
            </a:extLst>
          </p:cNvPr>
          <p:cNvCxnSpPr>
            <a:cxnSpLocks/>
          </p:cNvCxnSpPr>
          <p:nvPr/>
        </p:nvCxnSpPr>
        <p:spPr>
          <a:xfrm>
            <a:off x="6305553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96E920-8C4D-056C-1B24-D8ECBA1BA355}"/>
              </a:ext>
            </a:extLst>
          </p:cNvPr>
          <p:cNvCxnSpPr>
            <a:cxnSpLocks/>
          </p:cNvCxnSpPr>
          <p:nvPr/>
        </p:nvCxnSpPr>
        <p:spPr>
          <a:xfrm>
            <a:off x="6877053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F283E4-3773-ECB7-6640-84477772A258}"/>
              </a:ext>
            </a:extLst>
          </p:cNvPr>
          <p:cNvCxnSpPr>
            <a:cxnSpLocks/>
          </p:cNvCxnSpPr>
          <p:nvPr/>
        </p:nvCxnSpPr>
        <p:spPr>
          <a:xfrm>
            <a:off x="7541562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648950-4EBA-6A05-5A69-440F59791B3C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What does this tell us?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973B4F4E-0D10-1986-F17E-DAC81758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6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2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D886-68CC-C0E3-73DD-03E9C866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CED24-5772-3519-5499-42534F0D4439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Experimental Design, Statistics, and Visualizations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41802B-9D12-15D3-ADA8-63E5E2DC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7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2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78885-FBCE-A548-4971-78BAF508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5389C4-356D-D3DE-419E-D538D7AB3A8C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Experimental Design, Statistics, and Visualizations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B724B1-5711-A542-3F45-3BE17054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8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D06A2-F77B-352E-3D38-CEB1C3B89D98}"/>
              </a:ext>
            </a:extLst>
          </p:cNvPr>
          <p:cNvSpPr txBox="1"/>
          <p:nvPr/>
        </p:nvSpPr>
        <p:spPr>
          <a:xfrm>
            <a:off x="657224" y="1099644"/>
            <a:ext cx="11534775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You can have a good question, and you also need a good experimental design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0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D574-4245-E47B-6A64-824C7E7A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A2798-BF0C-5C1D-B978-EC167EBE917B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Experimental Design, Statistics, and Visualizations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D3AB51-407F-78C8-638A-D203D2C8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9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9C4F-00DE-C32D-EAEE-E98C76DEAF77}"/>
              </a:ext>
            </a:extLst>
          </p:cNvPr>
          <p:cNvSpPr txBox="1"/>
          <p:nvPr/>
        </p:nvSpPr>
        <p:spPr>
          <a:xfrm>
            <a:off x="657224" y="1099644"/>
            <a:ext cx="11534775" cy="256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You can have a good question, and you also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good experimental design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Does the venom microbial community differ across the gland of </a:t>
            </a:r>
            <a:r>
              <a:rPr lang="en-US" sz="2200" i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C. </a:t>
            </a:r>
            <a:r>
              <a:rPr lang="en-US" sz="2200" i="1" dirty="0" err="1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californiconus</a:t>
            </a:r>
            <a: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Is the experimental design sufficient for answering this question?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If not, what needs to be included? Controls, n, assumptions,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240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12624-82DC-B459-1BF0-E52ED156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62610-CA43-801C-1429-0BD02975689E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Experimental Design, Statistics, and Visualizations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F4345B-8988-C416-E5D2-D4FAE062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10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F5D5D-B043-9888-D1BF-AB9F7C664CE3}"/>
              </a:ext>
            </a:extLst>
          </p:cNvPr>
          <p:cNvSpPr txBox="1"/>
          <p:nvPr/>
        </p:nvSpPr>
        <p:spPr>
          <a:xfrm>
            <a:off x="657224" y="1099644"/>
            <a:ext cx="11534775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You can have a good question, and you also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good experimental design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Does the venom microbial community differ across the gland of </a:t>
            </a:r>
            <a:r>
              <a:rPr lang="en-US" sz="2200" i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C. </a:t>
            </a:r>
            <a:r>
              <a:rPr lang="en-US" sz="2200" i="1" dirty="0" err="1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californiconus</a:t>
            </a:r>
            <a: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Is the experimental design sufficient for answering this question?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If not, what needs to be included? Controls, n, assumptions,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Just because you have a p-value, doesn’t mean it’s real (or that it means something)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887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9C7F-381E-5DE4-1813-CF7A96E8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71262-E9D0-EC5E-0CC4-CC5C26CC5DC3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Experimental Design, Statistics, and Visualizations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393352-7395-32FC-B554-08C3BB0D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11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431D3-1988-D34F-F26B-43065962BAAE}"/>
              </a:ext>
            </a:extLst>
          </p:cNvPr>
          <p:cNvSpPr txBox="1"/>
          <p:nvPr/>
        </p:nvSpPr>
        <p:spPr>
          <a:xfrm>
            <a:off x="657224" y="1099644"/>
            <a:ext cx="11534775" cy="4092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You can have a good question, and you also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good experimental design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Does the venom microbial community differ across the gland of </a:t>
            </a:r>
            <a:r>
              <a:rPr lang="en-US" sz="2200" i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C. </a:t>
            </a:r>
            <a:r>
              <a:rPr lang="en-US" sz="2200" i="1" dirty="0" err="1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californiconus</a:t>
            </a:r>
            <a: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Is the experimental design sufficient for answering this question?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If not, what needs to be included? Controls, n, assumptions,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Just because you have a p-value, doesn’t mean it’s real (or that it means something)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How do trust the results we see?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Why statistics are important. And the difference of visuals vs results</a:t>
            </a:r>
          </a:p>
        </p:txBody>
      </p:sp>
    </p:spTree>
    <p:extLst>
      <p:ext uri="{BB962C8B-B14F-4D97-AF65-F5344CB8AC3E}">
        <p14:creationId xmlns:p14="http://schemas.microsoft.com/office/powerpoint/2010/main" val="1241989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9280-FC7A-B37C-9B5A-CCBE098A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A9BB0A-5C9C-FE60-95E5-30602024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5" t="23433" r="49381"/>
          <a:stretch>
            <a:fillRect/>
          </a:stretch>
        </p:blipFill>
        <p:spPr>
          <a:xfrm>
            <a:off x="185738" y="844784"/>
            <a:ext cx="5627517" cy="5583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26572D-17B9-062E-E813-16BE286C5850}"/>
              </a:ext>
            </a:extLst>
          </p:cNvPr>
          <p:cNvSpPr txBox="1"/>
          <p:nvPr/>
        </p:nvSpPr>
        <p:spPr>
          <a:xfrm>
            <a:off x="1233354" y="6289866"/>
            <a:ext cx="14164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Sample_Type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E2C38033-E636-BCA6-8043-07ACC45D0495}"/>
              </a:ext>
            </a:extLst>
          </p:cNvPr>
          <p:cNvSpPr/>
          <p:nvPr/>
        </p:nvSpPr>
        <p:spPr>
          <a:xfrm rot="16200000">
            <a:off x="1819613" y="4872603"/>
            <a:ext cx="243906" cy="2776817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CE6784-57F3-C2F6-A6EE-16BAC14BCFC0}"/>
              </a:ext>
            </a:extLst>
          </p:cNvPr>
          <p:cNvCxnSpPr>
            <a:cxnSpLocks/>
          </p:cNvCxnSpPr>
          <p:nvPr/>
        </p:nvCxnSpPr>
        <p:spPr>
          <a:xfrm>
            <a:off x="1233354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23D22F-768D-0268-524F-99D3FFA0B635}"/>
              </a:ext>
            </a:extLst>
          </p:cNvPr>
          <p:cNvCxnSpPr>
            <a:cxnSpLocks/>
          </p:cNvCxnSpPr>
          <p:nvPr/>
        </p:nvCxnSpPr>
        <p:spPr>
          <a:xfrm>
            <a:off x="1372307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040614-5AA7-346B-E275-E53D624E66B8}"/>
              </a:ext>
            </a:extLst>
          </p:cNvPr>
          <p:cNvCxnSpPr>
            <a:cxnSpLocks/>
          </p:cNvCxnSpPr>
          <p:nvPr/>
        </p:nvCxnSpPr>
        <p:spPr>
          <a:xfrm>
            <a:off x="1943807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0AF89F-EF8F-DA59-9E75-5A5E425654B2}"/>
              </a:ext>
            </a:extLst>
          </p:cNvPr>
          <p:cNvCxnSpPr>
            <a:cxnSpLocks/>
          </p:cNvCxnSpPr>
          <p:nvPr/>
        </p:nvCxnSpPr>
        <p:spPr>
          <a:xfrm>
            <a:off x="2608316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94CA20-82A9-BFEF-4ECB-B6B0F26ED4BD}"/>
              </a:ext>
            </a:extLst>
          </p:cNvPr>
          <p:cNvSpPr txBox="1"/>
          <p:nvPr/>
        </p:nvSpPr>
        <p:spPr>
          <a:xfrm>
            <a:off x="171449" y="0"/>
            <a:ext cx="11512545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What could be some reasons behind these differences?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603CA6CA-66FA-EB03-2FBC-EE1E3343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12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 descr="A chart with different colored bars&#10;&#10;AI-generated content may be incorrect.">
            <a:extLst>
              <a:ext uri="{FF2B5EF4-FFF2-40B4-BE49-F238E27FC236}">
                <a16:creationId xmlns:a16="http://schemas.microsoft.com/office/drawing/2014/main" id="{97FA4388-84D4-D798-7EEF-343303A92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494" y="1676400"/>
            <a:ext cx="60325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91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9687D-33EB-EB16-ABDC-40CEF8A7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699D8B-F4EE-9433-E74A-629F3D6534C1}"/>
              </a:ext>
            </a:extLst>
          </p:cNvPr>
          <p:cNvSpPr txBox="1"/>
          <p:nvPr/>
        </p:nvSpPr>
        <p:spPr>
          <a:xfrm>
            <a:off x="17464" y="2689791"/>
            <a:ext cx="12157072" cy="147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The data doesn’t lie, but you need to understand your method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Ensure you’re interpreting your data correctly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4F8BCA73-C142-BD79-3B47-67651FC8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13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003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4F66-83CE-FE03-C237-A41274E4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76DBB5-9C0E-2272-BAD1-79771C6A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5" t="23433" r="49381"/>
          <a:stretch>
            <a:fillRect/>
          </a:stretch>
        </p:blipFill>
        <p:spPr>
          <a:xfrm>
            <a:off x="185738" y="844784"/>
            <a:ext cx="5627517" cy="5583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9A79B6-C4FE-A937-C980-B3E186D17ACD}"/>
              </a:ext>
            </a:extLst>
          </p:cNvPr>
          <p:cNvSpPr txBox="1"/>
          <p:nvPr/>
        </p:nvSpPr>
        <p:spPr>
          <a:xfrm>
            <a:off x="1233354" y="6289866"/>
            <a:ext cx="14164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Sample_Type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5470679-E083-3B17-645C-FE46EF23059F}"/>
              </a:ext>
            </a:extLst>
          </p:cNvPr>
          <p:cNvSpPr/>
          <p:nvPr/>
        </p:nvSpPr>
        <p:spPr>
          <a:xfrm rot="16200000">
            <a:off x="1819613" y="4872603"/>
            <a:ext cx="243906" cy="2776817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03DF50-587E-BA53-C709-2ED35B4446F5}"/>
              </a:ext>
            </a:extLst>
          </p:cNvPr>
          <p:cNvCxnSpPr>
            <a:cxnSpLocks/>
          </p:cNvCxnSpPr>
          <p:nvPr/>
        </p:nvCxnSpPr>
        <p:spPr>
          <a:xfrm>
            <a:off x="1233354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CB5FC1-A6D1-D087-5869-EAB7CD723944}"/>
              </a:ext>
            </a:extLst>
          </p:cNvPr>
          <p:cNvCxnSpPr>
            <a:cxnSpLocks/>
          </p:cNvCxnSpPr>
          <p:nvPr/>
        </p:nvCxnSpPr>
        <p:spPr>
          <a:xfrm>
            <a:off x="1372307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151DE6-C7C2-005C-C4D4-9FE15FD70B3C}"/>
              </a:ext>
            </a:extLst>
          </p:cNvPr>
          <p:cNvCxnSpPr>
            <a:cxnSpLocks/>
          </p:cNvCxnSpPr>
          <p:nvPr/>
        </p:nvCxnSpPr>
        <p:spPr>
          <a:xfrm>
            <a:off x="1943807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ACDB56-5E90-BE26-522C-FF0652099526}"/>
              </a:ext>
            </a:extLst>
          </p:cNvPr>
          <p:cNvCxnSpPr>
            <a:cxnSpLocks/>
          </p:cNvCxnSpPr>
          <p:nvPr/>
        </p:nvCxnSpPr>
        <p:spPr>
          <a:xfrm>
            <a:off x="2608316" y="993502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55A61D3-1C5B-CCA9-39D0-5712433DE83E}"/>
              </a:ext>
            </a:extLst>
          </p:cNvPr>
          <p:cNvSpPr txBox="1"/>
          <p:nvPr/>
        </p:nvSpPr>
        <p:spPr>
          <a:xfrm>
            <a:off x="171449" y="0"/>
            <a:ext cx="11512545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Both are correct within the appropriate context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D4EF8564-300B-C3ED-1387-C9824DC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14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 descr="A chart with different colored bars&#10;&#10;AI-generated content may be incorrect.">
            <a:extLst>
              <a:ext uri="{FF2B5EF4-FFF2-40B4-BE49-F238E27FC236}">
                <a16:creationId xmlns:a16="http://schemas.microsoft.com/office/drawing/2014/main" id="{A1245DCA-D417-F4A4-ACC4-45A0211F9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494" y="1676400"/>
            <a:ext cx="60325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22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5E52F-0329-9451-D394-83B9ADCB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ADE1E2-A2DF-47B3-7C17-D289FCAF8A68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Today’s Objectives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D9B5C9-BFF8-A1C4-6EF0-6B883668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15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7AB40-66D6-049C-8BF2-9F0CA41DC4C8}"/>
              </a:ext>
            </a:extLst>
          </p:cNvPr>
          <p:cNvSpPr txBox="1"/>
          <p:nvPr/>
        </p:nvSpPr>
        <p:spPr>
          <a:xfrm>
            <a:off x="657225" y="1099644"/>
            <a:ext cx="10877550" cy="1752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Importing our QIIME 2 results into 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Understanding the statistical tests we'll run and the plots we'll make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Creating publication-ready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PCoA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relative abundance plots in ggplot2</a:t>
            </a:r>
          </a:p>
        </p:txBody>
      </p:sp>
    </p:spTree>
    <p:extLst>
      <p:ext uri="{BB962C8B-B14F-4D97-AF65-F5344CB8AC3E}">
        <p14:creationId xmlns:p14="http://schemas.microsoft.com/office/powerpoint/2010/main" val="2640637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FD17-D971-81D1-DD8E-659C2A29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FE206C-95B2-E30F-4682-5B33555B4860}"/>
              </a:ext>
            </a:extLst>
          </p:cNvPr>
          <p:cNvSpPr txBox="1"/>
          <p:nvPr/>
        </p:nvSpPr>
        <p:spPr>
          <a:xfrm>
            <a:off x="657225" y="253365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D80360-AC48-FFCE-33AC-3EB92163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16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F180A-30F6-3527-3A46-C4F718DD8757}"/>
              </a:ext>
            </a:extLst>
          </p:cNvPr>
          <p:cNvSpPr txBox="1"/>
          <p:nvPr/>
        </p:nvSpPr>
        <p:spPr>
          <a:xfrm>
            <a:off x="657225" y="3285541"/>
            <a:ext cx="10877550" cy="1175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5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UPRM_Workshop_RelAbund</a:t>
            </a:r>
            <a: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-SS.R</a:t>
            </a:r>
            <a:b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UPRM-</a:t>
            </a:r>
            <a:r>
              <a:rPr lang="en-US" sz="25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Workshop_PCoA</a:t>
            </a:r>
            <a: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-SS.R</a:t>
            </a:r>
            <a:endParaRPr lang="en-US" sz="2500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7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540D7-9E73-D62C-838F-E7A25102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E8D680-62EA-02DE-AA14-DF549508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17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DF666-4E2C-E3C3-2E54-2D673E63C914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Hypothesis Testing: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Why do we need Alpha and Beta?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5EF301-E945-6926-F9E2-93B31C0FB8A4}"/>
              </a:ext>
            </a:extLst>
          </p:cNvPr>
          <p:cNvSpPr txBox="1"/>
          <p:nvPr/>
        </p:nvSpPr>
        <p:spPr>
          <a:xfrm>
            <a:off x="171450" y="5209709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https://github.com/qiime2 </a:t>
            </a:r>
          </a:p>
          <a:p>
            <a:endParaRPr lang="en-US" sz="2200" dirty="0">
              <a:solidFill>
                <a:schemeClr val="tx2">
                  <a:lumMod val="50000"/>
                  <a:lumOff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https://r-graph-gallery.com/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https://microbiome.github.io/tutorials/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8245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7D3A-2884-85AF-6B72-5E0E506B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1D97DF-83D6-14D2-C969-5BBCB86F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18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0F156-C903-F341-2625-7843FD669D75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Hypothesis Testing: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Why do we need Alpha and Beta?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186C9-3150-8A66-D8FA-4ED3E4C53B4F}"/>
              </a:ext>
            </a:extLst>
          </p:cNvPr>
          <p:cNvSpPr txBox="1"/>
          <p:nvPr/>
        </p:nvSpPr>
        <p:spPr>
          <a:xfrm>
            <a:off x="171450" y="5209709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https://github.com/qiime2 </a:t>
            </a:r>
          </a:p>
          <a:p>
            <a:endParaRPr lang="en-US" sz="2200" dirty="0">
              <a:solidFill>
                <a:schemeClr val="tx2">
                  <a:lumMod val="50000"/>
                  <a:lumOff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https://r-graph-gallery.com/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https://microbiome.github.io/tutorials/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284BB-5897-DF8B-91D7-B82282EDE056}"/>
              </a:ext>
            </a:extLst>
          </p:cNvPr>
          <p:cNvSpPr txBox="1"/>
          <p:nvPr/>
        </p:nvSpPr>
        <p:spPr>
          <a:xfrm>
            <a:off x="657225" y="1440517"/>
            <a:ext cx="1087755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diversity: Which groups are ‘richer’?</a:t>
            </a:r>
            <a:b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/>
              <a:t>Does the venom gland tissue type (e.g., distal vs. bulb) </a:t>
            </a:r>
            <a:r>
              <a:rPr lang="en-US" dirty="0"/>
              <a:t>correlate to the </a:t>
            </a:r>
            <a:r>
              <a:rPr lang="en-US" sz="1800" dirty="0"/>
              <a:t>diversity of the microbial community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Relative abundance bar plot to visualize the "who" behind the statistics</a:t>
            </a:r>
          </a:p>
          <a:p>
            <a:pPr>
              <a:lnSpc>
                <a:spcPct val="150000"/>
              </a:lnSpc>
            </a:pPr>
            <a:br>
              <a:rPr lang="en-US" sz="1800" dirty="0"/>
            </a:br>
            <a:br>
              <a:rPr lang="en-US" sz="1800" dirty="0"/>
            </a:b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diversity: PERMANOVA &amp; homogeneity</a:t>
            </a:r>
            <a:b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/>
              <a:t>Is the composition of the community different between groups </a:t>
            </a:r>
            <a:b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55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9A32-3CD1-CEC0-92A9-781154D9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32F8BB-8EBC-3CB2-3BF6-ED9DB51E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19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8326CD-B11C-B821-5FE8-01B346866CC0}"/>
              </a:ext>
            </a:extLst>
          </p:cNvPr>
          <p:cNvSpPr txBox="1"/>
          <p:nvPr/>
        </p:nvSpPr>
        <p:spPr>
          <a:xfrm>
            <a:off x="171450" y="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Next Steps and Timeline Long-Term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E87F7-02BB-B6D8-C7D9-B268F2609A03}"/>
              </a:ext>
            </a:extLst>
          </p:cNvPr>
          <p:cNvSpPr txBox="1"/>
          <p:nvPr/>
        </p:nvSpPr>
        <p:spPr>
          <a:xfrm>
            <a:off x="714946" y="1104912"/>
            <a:ext cx="103340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Now that you’ve completed the entire analysis process, </a:t>
            </a:r>
            <a:br>
              <a:rPr lang="en-US" sz="2200" dirty="0"/>
            </a:br>
            <a:r>
              <a:rPr lang="en-US" sz="2200" dirty="0"/>
              <a:t>what’s clear and what remains hazy? </a:t>
            </a:r>
            <a:br>
              <a:rPr lang="en-US" sz="2200" dirty="0"/>
            </a:b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What would you do personally to improve the dataset?</a:t>
            </a:r>
            <a:br>
              <a:rPr lang="en-US" sz="2200" dirty="0"/>
            </a:br>
            <a:r>
              <a:rPr lang="en-US" sz="2200" dirty="0"/>
              <a:t>What would you do personally to improve the analysis?</a:t>
            </a:r>
            <a:br>
              <a:rPr lang="en-US" sz="2200" dirty="0"/>
            </a:b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What additional questions could be addressed with the data available?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What does this look like in terms of a publication and workflow?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3F7CD-0210-35A9-1624-BCA87E6EA1A6}"/>
              </a:ext>
            </a:extLst>
          </p:cNvPr>
          <p:cNvSpPr txBox="1"/>
          <p:nvPr/>
        </p:nvSpPr>
        <p:spPr>
          <a:xfrm>
            <a:off x="474345" y="5780108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200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0BBB2-2AEF-7802-87C3-84B74B11838F}"/>
              </a:ext>
            </a:extLst>
          </p:cNvPr>
          <p:cNvSpPr txBox="1"/>
          <p:nvPr/>
        </p:nvSpPr>
        <p:spPr>
          <a:xfrm>
            <a:off x="171450" y="5209709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https://github.com/qiime2 </a:t>
            </a:r>
          </a:p>
          <a:p>
            <a:endParaRPr lang="en-US" sz="2200" dirty="0">
              <a:solidFill>
                <a:schemeClr val="tx2">
                  <a:lumMod val="50000"/>
                  <a:lumOff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https://r-graph-gallery.com/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https://microbiome.github.io/tutorials/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733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748</Words>
  <Application>Microsoft Macintosh PowerPoint</Application>
  <PresentationFormat>Widescreen</PresentationFormat>
  <Paragraphs>102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Smith</dc:creator>
  <cp:lastModifiedBy>Sabah Ul-Hasan</cp:lastModifiedBy>
  <cp:revision>22</cp:revision>
  <dcterms:created xsi:type="dcterms:W3CDTF">2026-02-23T15:09:50Z</dcterms:created>
  <dcterms:modified xsi:type="dcterms:W3CDTF">2026-03-11T16:59:49Z</dcterms:modified>
</cp:coreProperties>
</file>