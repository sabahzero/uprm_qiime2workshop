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1"/>
  </p:notesMasterIdLst>
  <p:sldIdLst>
    <p:sldId id="2237" r:id="rId2"/>
    <p:sldId id="2236" r:id="rId3"/>
    <p:sldId id="2223" r:id="rId4"/>
    <p:sldId id="2238" r:id="rId5"/>
    <p:sldId id="2239" r:id="rId6"/>
    <p:sldId id="2240" r:id="rId7"/>
    <p:sldId id="2241" r:id="rId8"/>
    <p:sldId id="2242" r:id="rId9"/>
    <p:sldId id="224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C3D4D6"/>
    <a:srgbClr val="9CA483"/>
    <a:srgbClr val="655B46"/>
    <a:srgbClr val="BAB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399"/>
    <p:restoredTop sz="79440"/>
  </p:normalViewPr>
  <p:slideViewPr>
    <p:cSldViewPr snapToGrid="0">
      <p:cViewPr varScale="1">
        <p:scale>
          <a:sx n="70" d="100"/>
          <a:sy n="70" d="100"/>
        </p:scale>
        <p:origin x="25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B5B49-9746-BB4D-AA52-42DFB44D1781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EE856D-571C-5749-A465-CF003054A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2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BAB23-A2A2-0981-C373-21BCDE6342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FC6D1B-2535-A657-CC7B-7CE09B2E3F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F761-3A35-B15C-932E-CD83AF0D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6363-DBFF-0445-A92B-3D01187C0523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1DAE-8147-44FD-730B-E8C46AB96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715BB-BEAE-80CE-064B-C0352CBAE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2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C3D4-E485-9F22-495B-AD251C31F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B4EE4-E86A-BA8D-DCBB-3ABF98CDD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8FCBF-4EBA-C43F-C245-177BDD782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E83-1DB1-B64B-9D6B-16DDFD96D9C4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34DA1-FFE2-E7E1-8682-23B5CACA3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A9F54-FC29-3C1D-2BE2-768F871B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15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E23BA-52B7-5D4C-B768-934181756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7DFFA-F825-E291-8A32-E17E47569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1CA31-E2ED-F790-360B-8214AB700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F5407-A7C3-ED4C-BE90-F572D0287D47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2C177-3EB4-4FE9-537E-5FB5F607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F8BAC-B3D4-0D1E-3181-899203786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39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E404-17FF-308C-98CD-6A693B85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20CA2-BEA5-032F-3502-1BF352311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F0328-010E-9B64-3071-990D7497E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6ABEE-C691-9CFF-EB62-80978DCB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991FD-072F-E247-A23C-B39AD2C064E0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7E894-1BC2-7A31-ACAC-D0A1FB2E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48F90-98EB-F7FE-CBF0-C1DD9702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1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84B52-4B6D-EC7E-F668-0FD04CF21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AC271-A0EE-54A9-DAE3-8F65C09E1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3C1C5-19D1-DB0F-3FD3-D9A32C30F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07077-A36A-3448-7B62-E600049B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B1A09-2416-F1B0-55E3-466B07FFC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47B72E-30F8-9397-28DD-119C8F6BB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22A71-351F-7645-9FB6-24649103B0AD}" type="datetime1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AFBBFD-143E-1F4F-9326-22FAD75D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2FDBBB-A9F3-651C-60D7-4BCC94C4C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937BB-9904-2C70-BCC7-FD2A2BAAB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3E6FB3-4A15-B99A-1466-4D67EEC29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E215E-438D-ED4F-A6D8-DEE9CE867F74}" type="datetime1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1F1AF0-1260-476D-0C35-855DCD7A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A8F071-5211-62F6-3A5D-782898F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4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8872A5-AA14-7CA2-197A-5B39B5CCD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10ED0-EC73-284A-BFD7-2CA0D63C77EC}" type="datetime1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C5B83E-0475-511E-9E66-3676A3D5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1981A-0613-B4C0-B886-6D6184A1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AEC47-1386-E3A2-EBC0-83B93B9A4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B795C-8723-ACBA-55CA-A9AFA7204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10CE94-375E-070E-DB40-DDC70BE21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8181F2-17E2-D9F2-CC24-BFBCF1D0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FA4520-449E-D04E-98C6-12047F2867A8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89F85-7D3B-0FC5-E9BD-DD731CAF0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E165D-4BA7-5E5E-A2FE-8E478292C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29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6E87C-FD6B-5F29-52F1-67B83F017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EB27D9-D6A6-41CA-9C15-59D7BF28F3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D4BEB-2476-3736-4443-5CC74591E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E2D9-E57C-1942-B867-E49C9085F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70BB6-D8C9-5741-9A2A-708D1867EAD5}" type="datetime1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2374C-D19A-011C-E650-3C2C236F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2019B-9BEB-4957-623C-B8407E63A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A1ACE-6CDA-8D41-CAC6-EF44A654C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DEFE92-29F8-C187-FBE2-4FCFE0766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53A10-3CAE-0DAE-2CC0-A0180E5E9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FA39-0341-FF46-ADDC-8086B2344C32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48CC7-E549-2109-8FA3-C7AEA21E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B564-F875-0224-298C-5B4D838A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74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BAD3C-0B07-66FA-C1E9-32D183532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9B354-2571-44F5-4AF0-95D34F3E75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9A5C7-2BA9-0267-3F4E-4295EF647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E6BDC-031F-854F-A1E3-49B14A8AF8DA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074A3-817C-CE29-F1B1-F49DD03A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0A828-F7AE-9E82-0861-DD219D92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93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D4EA6-7882-BEA9-8EB3-2B6E02FC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2C5FE-ADA4-9ABD-A5D8-E6EE7657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93715-0923-BD32-7481-4C6A62F5C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F81440-1A9F-DC4F-8224-53B0BFA7DADD}" type="datetime1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018A6-C370-BBE7-94B1-C54932C463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7997E-03F6-D0EC-7FFF-BC475C1B9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ea creature on a shell&#10;&#10;AI-generated content may be incorrect.">
            <a:extLst>
              <a:ext uri="{FF2B5EF4-FFF2-40B4-BE49-F238E27FC236}">
                <a16:creationId xmlns:a16="http://schemas.microsoft.com/office/drawing/2014/main" id="{6E196981-59A4-5ECB-0CBE-E1BD1B03F3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7" t="3460" b="2186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5C86F-6949-253F-2812-7D631E272BDD}"/>
              </a:ext>
            </a:extLst>
          </p:cNvPr>
          <p:cNvSpPr txBox="1"/>
          <p:nvPr/>
        </p:nvSpPr>
        <p:spPr>
          <a:xfrm>
            <a:off x="657225" y="292478"/>
            <a:ext cx="10877550" cy="820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 Testing and Visualization in R </a:t>
            </a:r>
            <a:endParaRPr lang="en-U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D082C-BB9F-5619-8075-8CD3523C2654}"/>
              </a:ext>
            </a:extLst>
          </p:cNvPr>
          <p:cNvSpPr txBox="1"/>
          <p:nvPr/>
        </p:nvSpPr>
        <p:spPr>
          <a:xfrm>
            <a:off x="209550" y="5834137"/>
            <a:ext cx="401955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Sabah Ul-Hasan, Ph.D.</a:t>
            </a: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University of Puerto Rico, Mayaguez</a:t>
            </a:r>
          </a:p>
        </p:txBody>
      </p:sp>
    </p:spTree>
    <p:extLst>
      <p:ext uri="{BB962C8B-B14F-4D97-AF65-F5344CB8AC3E}">
        <p14:creationId xmlns:p14="http://schemas.microsoft.com/office/powerpoint/2010/main" val="984018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A66-6EBC-3016-5218-C3DB00C7A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5158DD-527E-F619-EAE7-9B224C64E00B}"/>
              </a:ext>
            </a:extLst>
          </p:cNvPr>
          <p:cNvSpPr txBox="1"/>
          <p:nvPr/>
        </p:nvSpPr>
        <p:spPr>
          <a:xfrm>
            <a:off x="657225" y="253365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Questions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70759B-ED78-9239-C973-521BE427F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23887-CC8E-D16D-2E31-45CEFFEFBBE2}"/>
              </a:ext>
            </a:extLst>
          </p:cNvPr>
          <p:cNvSpPr txBox="1"/>
          <p:nvPr/>
        </p:nvSpPr>
        <p:spPr>
          <a:xfrm>
            <a:off x="657225" y="3285541"/>
            <a:ext cx="10877550" cy="59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5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[teams: materials were clear to understand/not </a:t>
            </a:r>
            <a:r>
              <a:rPr lang="en-US" sz="2500" dirty="0" err="1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5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8291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1082C-F76F-4228-1076-13874BFD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3A6789-E885-989E-DD91-8C7A696D223F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Recap: Session 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49CF31-AEAD-9CA1-5C03-B3050E8E4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1237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5E52F-0329-9451-D394-83B9ADCB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ADE1E2-A2DF-47B3-7C17-D289FCAF8A68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Recap: Session 1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D9B5C9-BFF8-A1C4-6EF0-6B8836685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7AB40-66D6-049C-8BF2-9F0CA41DC4C8}"/>
              </a:ext>
            </a:extLst>
          </p:cNvPr>
          <p:cNvSpPr txBox="1"/>
          <p:nvPr/>
        </p:nvSpPr>
        <p:spPr>
          <a:xfrm>
            <a:off x="657225" y="1099644"/>
            <a:ext cx="10877550" cy="2329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Today’s Objectives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Importing our QIIME 2 results into 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Understanding the statistical tests we'll run and the plots we'll make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Creating publication-ready </a:t>
            </a:r>
            <a:r>
              <a:rPr lang="en-US" sz="2500" dirty="0" err="1">
                <a:latin typeface="Arial" panose="020B0604020202020204" pitchFamily="34" charset="0"/>
                <a:cs typeface="Arial" panose="020B0604020202020204" pitchFamily="34" charset="0"/>
              </a:rPr>
              <a:t>PCoA</a:t>
            </a: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 and relative abundance plots in ggplot2</a:t>
            </a:r>
          </a:p>
        </p:txBody>
      </p:sp>
    </p:spTree>
    <p:extLst>
      <p:ext uri="{BB962C8B-B14F-4D97-AF65-F5344CB8AC3E}">
        <p14:creationId xmlns:p14="http://schemas.microsoft.com/office/powerpoint/2010/main" val="2640637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540D7-9E73-D62C-838F-E7A251021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E8D680-62EA-02DE-AA14-DF5495087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3DF666-4E2C-E3C3-2E54-2D673E63C914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Getting QIIME2 Data into 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54614-A30A-FA26-2216-DE2B82FB54BB}"/>
              </a:ext>
            </a:extLst>
          </p:cNvPr>
          <p:cNvSpPr txBox="1"/>
          <p:nvPr/>
        </p:nvSpPr>
        <p:spPr>
          <a:xfrm>
            <a:off x="672084" y="1519904"/>
            <a:ext cx="60990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library(qiime2R)</a:t>
            </a:r>
          </a:p>
          <a:p>
            <a:r>
              <a:rPr lang="en-US" dirty="0"/>
              <a:t>metadata &lt;- read_q2metadata("</a:t>
            </a:r>
            <a:r>
              <a:rPr lang="en-US" dirty="0" err="1"/>
              <a:t>metadata.tsv</a:t>
            </a:r>
            <a:r>
              <a:rPr lang="en-US" dirty="0"/>
              <a:t>")</a:t>
            </a:r>
          </a:p>
          <a:p>
            <a:r>
              <a:rPr lang="en-US" dirty="0" err="1"/>
              <a:t>asv_table</a:t>
            </a:r>
            <a:r>
              <a:rPr lang="en-US" dirty="0"/>
              <a:t> &lt;- </a:t>
            </a:r>
            <a:r>
              <a:rPr lang="en-US" dirty="0" err="1"/>
              <a:t>read_qza</a:t>
            </a:r>
            <a:r>
              <a:rPr lang="en-US" dirty="0"/>
              <a:t>("</a:t>
            </a:r>
            <a:r>
              <a:rPr lang="en-US" dirty="0" err="1"/>
              <a:t>table.qza</a:t>
            </a:r>
            <a:r>
              <a:rPr lang="en-US" dirty="0"/>
              <a:t>")$data</a:t>
            </a:r>
          </a:p>
          <a:p>
            <a:r>
              <a:rPr lang="en-US" dirty="0"/>
              <a:t>taxonomy &lt;- </a:t>
            </a:r>
            <a:r>
              <a:rPr lang="en-US" dirty="0" err="1"/>
              <a:t>read_qza</a:t>
            </a:r>
            <a:r>
              <a:rPr lang="en-US" dirty="0"/>
              <a:t>("</a:t>
            </a:r>
            <a:r>
              <a:rPr lang="en-US" dirty="0" err="1"/>
              <a:t>taxonomy.qza</a:t>
            </a:r>
            <a:r>
              <a:rPr lang="en-US" dirty="0"/>
              <a:t>")$data</a:t>
            </a:r>
          </a:p>
          <a:p>
            <a:r>
              <a:rPr lang="en-US" dirty="0"/>
              <a:t>tree &lt;- </a:t>
            </a:r>
            <a:r>
              <a:rPr lang="en-US" dirty="0" err="1"/>
              <a:t>read_qza</a:t>
            </a:r>
            <a:r>
              <a:rPr lang="en-US" dirty="0"/>
              <a:t>("rooted-</a:t>
            </a:r>
            <a:r>
              <a:rPr lang="en-US" dirty="0" err="1"/>
              <a:t>tree.qza</a:t>
            </a:r>
            <a:r>
              <a:rPr lang="en-US" dirty="0"/>
              <a:t>")$data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E3857-6319-3505-5099-C3CA38739A3A}"/>
              </a:ext>
            </a:extLst>
          </p:cNvPr>
          <p:cNvSpPr txBox="1"/>
          <p:nvPr/>
        </p:nvSpPr>
        <p:spPr>
          <a:xfrm>
            <a:off x="422910" y="921792"/>
            <a:ext cx="10877550" cy="59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Create a </a:t>
            </a:r>
            <a:r>
              <a:rPr lang="en-US" sz="2500" dirty="0" err="1">
                <a:latin typeface="Arial" panose="020B0604020202020204" pitchFamily="34" charset="0"/>
                <a:cs typeface="Arial" panose="020B0604020202020204" pitchFamily="34" charset="0"/>
              </a:rPr>
              <a:t>phyloseq</a:t>
            </a: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 object</a:t>
            </a:r>
          </a:p>
        </p:txBody>
      </p:sp>
    </p:spTree>
    <p:extLst>
      <p:ext uri="{BB962C8B-B14F-4D97-AF65-F5344CB8AC3E}">
        <p14:creationId xmlns:p14="http://schemas.microsoft.com/office/powerpoint/2010/main" val="314824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A31D-BBF9-65B7-F587-9162809FF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DAE90B-DF84-2D09-A69A-45B8275E9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C67F5-EF1B-CD74-9EF9-920789D4BA5B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diversity: Which groups are ‘richer’?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757729-2683-DFF9-3301-A13B387DE30D}"/>
              </a:ext>
            </a:extLst>
          </p:cNvPr>
          <p:cNvSpPr txBox="1"/>
          <p:nvPr/>
        </p:nvSpPr>
        <p:spPr>
          <a:xfrm>
            <a:off x="1263586" y="1409712"/>
            <a:ext cx="79994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Question: Does the venom gland tissue type (distal vs. bulb) affect the internal diversity of the microbial community?</a:t>
            </a:r>
          </a:p>
          <a:p>
            <a:endParaRPr lang="en-US" dirty="0"/>
          </a:p>
          <a:p>
            <a:r>
              <a:rPr lang="en-US" dirty="0"/>
              <a:t>The Metric: We'll use observed ASVs (richness) and Shannon (evenness) from yesterday's QIIME 2 run.</a:t>
            </a:r>
          </a:p>
          <a:p>
            <a:endParaRPr lang="en-US" dirty="0"/>
          </a:p>
          <a:p>
            <a:r>
              <a:rPr lang="en-US" dirty="0"/>
              <a:t>The Statistical Test:</a:t>
            </a:r>
          </a:p>
          <a:p>
            <a:endParaRPr lang="en-US" dirty="0"/>
          </a:p>
          <a:p>
            <a:r>
              <a:rPr lang="en-US" dirty="0"/>
              <a:t>    Non-parametric: Kruskal-Wallis (for &gt;2 groups, like the three tissue types) or Mann-Whitney U (for 2 groups, like Control vs. Experimental).</a:t>
            </a:r>
          </a:p>
          <a:p>
            <a:endParaRPr lang="en-US" dirty="0"/>
          </a:p>
          <a:p>
            <a:r>
              <a:rPr lang="en-US" dirty="0"/>
              <a:t>    Why these tests? Our alpha diversity data often isn't normally distributed, so we use non-parametric tests.</a:t>
            </a:r>
          </a:p>
          <a:p>
            <a:endParaRPr lang="en-US" dirty="0"/>
          </a:p>
          <a:p>
            <a:r>
              <a:rPr lang="en-US" dirty="0"/>
              <a:t>The Visualization: A boxplot in ggplot2 with points, with significance letters (e.g., 'a', 'b', 'c') above the groups to show which are significantly different.</a:t>
            </a:r>
          </a:p>
        </p:txBody>
      </p:sp>
    </p:spTree>
    <p:extLst>
      <p:ext uri="{BB962C8B-B14F-4D97-AF65-F5344CB8AC3E}">
        <p14:creationId xmlns:p14="http://schemas.microsoft.com/office/powerpoint/2010/main" val="1745332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94F04-FE56-7351-C353-25EC568F2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BB9C35A-AEAD-7D18-1942-84B319FD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211041-C4FA-FFBB-8610-B5F2BCD2C25E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diversity: PERMANOVA &amp; homogeneity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E03E5-A9F0-89F8-D440-D6E68719F7FB}"/>
              </a:ext>
            </a:extLst>
          </p:cNvPr>
          <p:cNvSpPr txBox="1"/>
          <p:nvPr/>
        </p:nvSpPr>
        <p:spPr>
          <a:xfrm>
            <a:off x="562356" y="953203"/>
            <a:ext cx="1087755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Question: Is the composition of the community different between our experimental groups (e.g., control vs. experimental)?</a:t>
            </a:r>
          </a:p>
          <a:p>
            <a:endParaRPr lang="en-US" dirty="0"/>
          </a:p>
          <a:p>
            <a:r>
              <a:rPr lang="en-US" dirty="0"/>
              <a:t>The Metric: We'll use the distance matrices we generated (Bray-Curtis, Jaccard, </a:t>
            </a:r>
            <a:r>
              <a:rPr lang="en-US" dirty="0" err="1"/>
              <a:t>UniFrac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The Statistical Test: PERMANOVA (adonis2 in vegan).</a:t>
            </a:r>
          </a:p>
          <a:p>
            <a:endParaRPr lang="en-US" dirty="0"/>
          </a:p>
          <a:p>
            <a:r>
              <a:rPr lang="en-US" dirty="0"/>
              <a:t>    Analogy: Think of it as an ANOVA, but for multivariate data (whole communities). It tests if the "center" (centroid) of the groups in a </a:t>
            </a:r>
            <a:r>
              <a:rPr lang="en-US" dirty="0" err="1"/>
              <a:t>PCoA</a:t>
            </a:r>
            <a:r>
              <a:rPr lang="en-US" dirty="0"/>
              <a:t> plot is significantly different.</a:t>
            </a:r>
          </a:p>
          <a:p>
            <a:endParaRPr lang="en-US" dirty="0"/>
          </a:p>
          <a:p>
            <a:r>
              <a:rPr lang="en-US" dirty="0"/>
              <a:t>The Crucial Check: A significant PERMANOVA result could mean the groups have different centers (real composition differences) OR that one group is just much more variable (dispersed) than the other.</a:t>
            </a:r>
          </a:p>
          <a:p>
            <a:endParaRPr lang="en-US" dirty="0"/>
          </a:p>
          <a:p>
            <a:r>
              <a:rPr lang="en-US" dirty="0"/>
              <a:t>The Test: BETADISPER.</a:t>
            </a:r>
          </a:p>
          <a:p>
            <a:endParaRPr lang="en-US" dirty="0"/>
          </a:p>
          <a:p>
            <a:r>
              <a:rPr lang="en-US" dirty="0"/>
              <a:t>    This tests if the spread of the data is the same across groups.</a:t>
            </a:r>
          </a:p>
          <a:p>
            <a:endParaRPr lang="en-US" dirty="0"/>
          </a:p>
          <a:p>
            <a:r>
              <a:rPr lang="en-US" dirty="0"/>
              <a:t>The Interpretation:</a:t>
            </a:r>
          </a:p>
          <a:p>
            <a:endParaRPr lang="en-US" dirty="0"/>
          </a:p>
          <a:p>
            <a:r>
              <a:rPr lang="en-US" dirty="0"/>
              <a:t>    If PERMANOVA is significant &amp; BETADISPER is NOT significant: Great! The groups truly have different compositions.</a:t>
            </a:r>
          </a:p>
          <a:p>
            <a:endParaRPr lang="en-US" dirty="0"/>
          </a:p>
          <a:p>
            <a:r>
              <a:rPr lang="en-US" dirty="0"/>
              <a:t>    If both are significant: The difference might be driven by one group being more variable. The interpretation is more complex.</a:t>
            </a:r>
          </a:p>
        </p:txBody>
      </p:sp>
    </p:spTree>
    <p:extLst>
      <p:ext uri="{BB962C8B-B14F-4D97-AF65-F5344CB8AC3E}">
        <p14:creationId xmlns:p14="http://schemas.microsoft.com/office/powerpoint/2010/main" val="368160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CE3E1-7212-4C10-90C5-89746652B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C9EFBA-5887-0042-A4E0-7175AA194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8B4E7-5DB1-733C-D086-786C01432A6B}"/>
              </a:ext>
            </a:extLst>
          </p:cNvPr>
          <p:cNvSpPr txBox="1"/>
          <p:nvPr/>
        </p:nvSpPr>
        <p:spPr>
          <a:xfrm>
            <a:off x="1263586" y="1409712"/>
            <a:ext cx="7999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Import data with qiime2R.</a:t>
            </a:r>
          </a:p>
          <a:p>
            <a:endParaRPr lang="en-US" dirty="0"/>
          </a:p>
          <a:p>
            <a:r>
              <a:rPr lang="en-US" dirty="0"/>
              <a:t>    Run a PERMANOVA to test the effect of </a:t>
            </a:r>
            <a:r>
              <a:rPr lang="en-US" dirty="0" err="1"/>
              <a:t>tissue_compartment</a:t>
            </a:r>
            <a:r>
              <a:rPr lang="en-US" dirty="0"/>
              <a:t> and treatment on beta diversity.</a:t>
            </a:r>
          </a:p>
          <a:p>
            <a:endParaRPr lang="en-US" dirty="0"/>
          </a:p>
          <a:p>
            <a:r>
              <a:rPr lang="en-US" dirty="0"/>
              <a:t>    Create a beautiful </a:t>
            </a:r>
            <a:r>
              <a:rPr lang="en-US" dirty="0" err="1"/>
              <a:t>PCoA</a:t>
            </a:r>
            <a:r>
              <a:rPr lang="en-US" dirty="0"/>
              <a:t> plot with ggplot2, coloring points by </a:t>
            </a:r>
            <a:r>
              <a:rPr lang="en-US" dirty="0" err="1"/>
              <a:t>tissue_compartment</a:t>
            </a:r>
            <a:r>
              <a:rPr lang="en-US" dirty="0"/>
              <a:t> and shaping them by treatment.</a:t>
            </a:r>
          </a:p>
          <a:p>
            <a:endParaRPr lang="en-US" dirty="0"/>
          </a:p>
          <a:p>
            <a:r>
              <a:rPr lang="en-US" dirty="0"/>
              <a:t>    Create a relative abundance bar plot to visualize the "who" behind the statistics.</a:t>
            </a:r>
          </a:p>
          <a:p>
            <a:endParaRPr lang="en-US" dirty="0"/>
          </a:p>
          <a:p>
            <a:r>
              <a:rPr lang="en-US" dirty="0"/>
              <a:t>This is the raw material for the figures in our future publication.</a:t>
            </a:r>
          </a:p>
        </p:txBody>
      </p:sp>
    </p:spTree>
    <p:extLst>
      <p:ext uri="{BB962C8B-B14F-4D97-AF65-F5344CB8AC3E}">
        <p14:creationId xmlns:p14="http://schemas.microsoft.com/office/powerpoint/2010/main" val="2677023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9A32-3CD1-CEC0-92A9-781154D9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32F8BB-8EBC-3CB2-3BF6-ED9DB51EE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8326CD-B11C-B821-5FE8-01B346866CC0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Next Steps and Timeline Long-Term</a:t>
            </a:r>
          </a:p>
        </p:txBody>
      </p:sp>
    </p:spTree>
    <p:extLst>
      <p:ext uri="{BB962C8B-B14F-4D97-AF65-F5344CB8AC3E}">
        <p14:creationId xmlns:p14="http://schemas.microsoft.com/office/powerpoint/2010/main" val="3737335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556</Words>
  <Application>Microsoft Macintosh PowerPoint</Application>
  <PresentationFormat>Widescreen</PresentationFormat>
  <Paragraphs>68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Sabah Ul-Hasan</cp:lastModifiedBy>
  <cp:revision>15</cp:revision>
  <dcterms:created xsi:type="dcterms:W3CDTF">2026-02-23T15:09:50Z</dcterms:created>
  <dcterms:modified xsi:type="dcterms:W3CDTF">2026-03-02T16:42:44Z</dcterms:modified>
</cp:coreProperties>
</file>