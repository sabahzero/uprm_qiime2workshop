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48" r:id="rId1"/>
  </p:sldMasterIdLst>
  <p:notesMasterIdLst>
    <p:notesMasterId r:id="rId18"/>
  </p:notesMasterIdLst>
  <p:sldIdLst>
    <p:sldId id="2237" r:id="rId2"/>
    <p:sldId id="294" r:id="rId3"/>
    <p:sldId id="2244" r:id="rId4"/>
    <p:sldId id="2245" r:id="rId5"/>
    <p:sldId id="2246" r:id="rId6"/>
    <p:sldId id="2247" r:id="rId7"/>
    <p:sldId id="2248" r:id="rId8"/>
    <p:sldId id="2249" r:id="rId9"/>
    <p:sldId id="2250" r:id="rId10"/>
    <p:sldId id="2251" r:id="rId11"/>
    <p:sldId id="2238" r:id="rId12"/>
    <p:sldId id="2239" r:id="rId13"/>
    <p:sldId id="2240" r:id="rId14"/>
    <p:sldId id="2241" r:id="rId15"/>
    <p:sldId id="2242" r:id="rId16"/>
    <p:sldId id="224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7F7"/>
    <a:srgbClr val="C3D4D6"/>
    <a:srgbClr val="9CA483"/>
    <a:srgbClr val="655B46"/>
    <a:srgbClr val="BAB0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554"/>
    <p:restoredTop sz="79440"/>
  </p:normalViewPr>
  <p:slideViewPr>
    <p:cSldViewPr snapToGrid="0">
      <p:cViewPr varScale="1">
        <p:scale>
          <a:sx n="63" d="100"/>
          <a:sy n="63" d="100"/>
        </p:scale>
        <p:origin x="200" y="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3B5B49-9746-BB4D-AA52-42DFB44D1781}" type="datetimeFigureOut">
              <a:rPr lang="en-US" smtClean="0"/>
              <a:t>3/8/26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EE856D-571C-5749-A465-CF003054AF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02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771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71D2D-1F00-8D80-3F63-DED0D72B3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69AF9C-8E0F-D435-6A38-2D8C1B057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C6FFE-7130-8D3D-382D-06D62F0D2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80BF1-7AE9-C080-A4FA-53C37E6523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8952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A7CBA-FBAD-C00A-2ACD-C1404D429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AE25F-CD5D-AF72-2F20-CD63496946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F3B60-FB8D-1603-61AC-8478A451A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72767-A3F2-26ED-97F0-3DE7A90D0F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7848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4064C-87E8-ECBE-6E03-032D0C4E5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55172-BE70-3884-470B-25E7749EB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E93917-3F75-E68B-4D30-3C2ACEAC9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B373F-BDF2-C758-207A-54ACEDBE36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904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BAB23-A2A2-0981-C373-21BCDE6342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FC6D1B-2535-A657-CC7B-7CE09B2E3F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DF761-3A35-B15C-932E-CD83AF0D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6363-DBFF-0445-A92B-3D01187C0523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AB1DAE-8147-44FD-730B-E8C46AB96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E715BB-BEAE-80CE-064B-C0352CBAE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23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C3D4-E485-9F22-495B-AD251C31F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B4EE4-E86A-BA8D-DCBB-3ABF98CDD5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8FCBF-4EBA-C43F-C245-177BDD782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07E83-1DB1-B64B-9D6B-16DDFD96D9C4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34DA1-FFE2-E7E1-8682-23B5CACA3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A9F54-FC29-3C1D-2BE2-768F871B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155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E23BA-52B7-5D4C-B768-934181756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7DFFA-F825-E291-8A32-E17E47569A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1CA31-E2ED-F790-360B-8214AB700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F5407-A7C3-ED4C-BE90-F572D0287D47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2C177-3EB4-4FE9-537E-5FB5F6071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F8BAC-B3D4-0D1E-3181-899203786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539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BE404-17FF-308C-98CD-6A693B85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20CA2-BEA5-032F-3502-1BF352311F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DF0328-010E-9B64-3071-990D7497E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26ABEE-C691-9CFF-EB62-80978DCB8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991FD-072F-E247-A23C-B39AD2C064E0}" type="datetime1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7E894-1BC2-7A31-ACAC-D0A1FB2EE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748F90-98EB-F7FE-CBF0-C1DD9702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13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84B52-4B6D-EC7E-F668-0FD04CF21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0AC271-A0EE-54A9-DAE3-8F65C09E12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93C1C5-19D1-DB0F-3FD3-D9A32C30F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F07077-A36A-3448-7B62-E600049BB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BB1A09-2416-F1B0-55E3-466B07FFC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47B72E-30F8-9397-28DD-119C8F6BB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22A71-351F-7645-9FB6-24649103B0AD}" type="datetime1">
              <a:rPr lang="en-US" smtClean="0"/>
              <a:t>3/8/26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AFBBFD-143E-1F4F-9326-22FAD75D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2FDBBB-A9F3-651C-60D7-4BCC94C4C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937BB-9904-2C70-BCC7-FD2A2BAAB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3E6FB3-4A15-B99A-1466-4D67EEC29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E215E-438D-ED4F-A6D8-DEE9CE867F74}" type="datetime1">
              <a:rPr lang="en-US" smtClean="0"/>
              <a:t>3/8/26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1F1AF0-1260-476D-0C35-855DCD7AC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A8F071-5211-62F6-3A5D-782898FC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14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8872A5-AA14-7CA2-197A-5B39B5CCD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10ED0-EC73-284A-BFD7-2CA0D63C77EC}" type="datetime1">
              <a:rPr lang="en-US" smtClean="0"/>
              <a:t>3/8/26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C5B83E-0475-511E-9E66-3676A3D5B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1981A-0613-B4C0-B886-6D6184A18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541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AEC47-1386-E3A2-EBC0-83B93B9A4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B795C-8723-ACBA-55CA-A9AFA7204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10CE94-375E-070E-DB40-DDC70BE219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8181F2-17E2-D9F2-CC24-BFBCF1D0D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FA4520-449E-D04E-98C6-12047F2867A8}" type="datetime1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89F85-7D3B-0FC5-E9BD-DD731CAF0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E165D-4BA7-5E5E-A2FE-8E478292C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629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6E87C-FD6B-5F29-52F1-67B83F017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EB27D9-D6A6-41CA-9C15-59D7BF28F3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ED4BEB-2476-3736-4443-5CC74591E2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9AE2D9-E57C-1942-B867-E49C9085F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70BB6-D8C9-5741-9A2A-708D1867EAD5}" type="datetime1">
              <a:rPr lang="en-US" smtClean="0"/>
              <a:t>3/8/26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62374C-D19A-011C-E650-3C2C236F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2019B-9BEB-4957-623C-B8407E63A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38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A1ACE-6CDA-8D41-CAC6-EF44A654C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DEFE92-29F8-C187-FBE2-4FCFE0766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53A10-3CAE-0DAE-2CC0-A0180E5E9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1FA39-0341-FF46-ADDC-8086B2344C32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48CC7-E549-2109-8FA3-C7AEA21EC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BB564-F875-0224-298C-5B4D838A4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974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DBAD3C-0B07-66FA-C1E9-32D1835321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A9B354-2571-44F5-4AF0-95D34F3E75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9A5C7-2BA9-0267-3F4E-4295EF647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E6BDC-031F-854F-A1E3-49B14A8AF8DA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074A3-817C-CE29-F1B1-F49DD03AC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0A828-F7AE-9E82-0861-DD219D928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932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ED4EA6-7882-BEA9-8EB3-2B6E02FC4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2C5FE-ADA4-9ABD-A5D8-E6EE7657E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93715-0923-BD32-7481-4C6A62F5C0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F81440-1A9F-DC4F-8224-53B0BFA7DADD}" type="datetime1">
              <a:rPr lang="en-US" smtClean="0"/>
              <a:t>3/8/26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018A6-C370-BBE7-94B1-C54932C463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7997E-03F6-D0EC-7FFF-BC475C1B9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35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ea creature on a shell&#10;&#10;AI-generated content may be incorrect.">
            <a:extLst>
              <a:ext uri="{FF2B5EF4-FFF2-40B4-BE49-F238E27FC236}">
                <a16:creationId xmlns:a16="http://schemas.microsoft.com/office/drawing/2014/main" id="{6E196981-59A4-5ECB-0CBE-E1BD1B03F3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7" t="3460" b="2186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85C86F-6949-253F-2812-7D631E272BDD}"/>
              </a:ext>
            </a:extLst>
          </p:cNvPr>
          <p:cNvSpPr txBox="1"/>
          <p:nvPr/>
        </p:nvSpPr>
        <p:spPr>
          <a:xfrm>
            <a:off x="657225" y="292478"/>
            <a:ext cx="10877550" cy="820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Hypothesis Testing and Visualization in R </a:t>
            </a:r>
            <a:endParaRPr lang="en-US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5D082C-BB9F-5619-8075-8CD3523C2654}"/>
              </a:ext>
            </a:extLst>
          </p:cNvPr>
          <p:cNvSpPr txBox="1"/>
          <p:nvPr/>
        </p:nvSpPr>
        <p:spPr>
          <a:xfrm>
            <a:off x="209550" y="5834137"/>
            <a:ext cx="401955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Sabah Ul-Hasan, Ph.D.</a:t>
            </a: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University of Puerto Rico, Mayaguez</a:t>
            </a:r>
          </a:p>
        </p:txBody>
      </p:sp>
    </p:spTree>
    <p:extLst>
      <p:ext uri="{BB962C8B-B14F-4D97-AF65-F5344CB8AC3E}">
        <p14:creationId xmlns:p14="http://schemas.microsoft.com/office/powerpoint/2010/main" val="984018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914A0-4ECF-3962-3189-A27F96C2F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8D20AE0-000A-BFAF-5C82-FD6FBCBB93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5" t="23433" r="49381"/>
          <a:stretch>
            <a:fillRect/>
          </a:stretch>
        </p:blipFill>
        <p:spPr>
          <a:xfrm>
            <a:off x="5118984" y="1014453"/>
            <a:ext cx="5627517" cy="558319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7416228-1FF1-CE8D-772A-E9943124C9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5" b="85748"/>
          <a:stretch>
            <a:fillRect/>
          </a:stretch>
        </p:blipFill>
        <p:spPr>
          <a:xfrm>
            <a:off x="5118984" y="260357"/>
            <a:ext cx="5627516" cy="636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103DB1-F5DF-912E-2F02-0256B4F3EE16}"/>
              </a:ext>
            </a:extLst>
          </p:cNvPr>
          <p:cNvSpPr txBox="1"/>
          <p:nvPr/>
        </p:nvSpPr>
        <p:spPr>
          <a:xfrm>
            <a:off x="6166600" y="6459535"/>
            <a:ext cx="141642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Sample_Type</a:t>
            </a:r>
            <a:endParaRPr lang="en-US" sz="14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C02F3D61-81AA-409F-9ED9-52A7901EBF7D}"/>
              </a:ext>
            </a:extLst>
          </p:cNvPr>
          <p:cNvSpPr/>
          <p:nvPr/>
        </p:nvSpPr>
        <p:spPr>
          <a:xfrm rot="16200000">
            <a:off x="6752859" y="5042272"/>
            <a:ext cx="243906" cy="2776817"/>
          </a:xfrm>
          <a:prstGeom prst="leftBrac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A5AC5FE-5A33-8ABB-CF17-CC6C3AC9076D}"/>
              </a:ext>
            </a:extLst>
          </p:cNvPr>
          <p:cNvCxnSpPr>
            <a:cxnSpLocks/>
          </p:cNvCxnSpPr>
          <p:nvPr/>
        </p:nvCxnSpPr>
        <p:spPr>
          <a:xfrm>
            <a:off x="6166600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2F7048B-1200-BE41-2C71-CE28500E9D5D}"/>
              </a:ext>
            </a:extLst>
          </p:cNvPr>
          <p:cNvCxnSpPr>
            <a:cxnSpLocks/>
          </p:cNvCxnSpPr>
          <p:nvPr/>
        </p:nvCxnSpPr>
        <p:spPr>
          <a:xfrm>
            <a:off x="6305553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069E062-C499-E53F-E1A0-6C24857A1930}"/>
              </a:ext>
            </a:extLst>
          </p:cNvPr>
          <p:cNvCxnSpPr>
            <a:cxnSpLocks/>
          </p:cNvCxnSpPr>
          <p:nvPr/>
        </p:nvCxnSpPr>
        <p:spPr>
          <a:xfrm>
            <a:off x="6877053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78B7E543-7602-DC91-C362-7238EDCFAB1A}"/>
              </a:ext>
            </a:extLst>
          </p:cNvPr>
          <p:cNvCxnSpPr>
            <a:cxnSpLocks/>
          </p:cNvCxnSpPr>
          <p:nvPr/>
        </p:nvCxnSpPr>
        <p:spPr>
          <a:xfrm>
            <a:off x="7541562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14B383F-972D-EA01-05F5-3737B2A692D8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Recap: Session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9F45FA-CF01-9B03-F096-1D1516816427}"/>
              </a:ext>
            </a:extLst>
          </p:cNvPr>
          <p:cNvSpPr txBox="1"/>
          <p:nvPr/>
        </p:nvSpPr>
        <p:spPr>
          <a:xfrm>
            <a:off x="657225" y="1099644"/>
            <a:ext cx="3679399" cy="1175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Why is this important, </a:t>
            </a:r>
            <a:b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what does it tell us?</a:t>
            </a: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70FB20F2-C56D-3F98-0B6E-4FB6DEDD4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0204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4D886-68CC-C0E3-73DD-03E9C866A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0CED24-5772-3519-5499-42534F0D4439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Design, Statistics, and Visualizations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B41802B-9D12-15D3-ADA8-63E5E2DCD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2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6215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78885-FBCE-A548-4971-78BAF5081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5389C4-356D-D3DE-419E-D538D7AB3A8C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Design, Statistics, and Visualizations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FB724B1-5711-A542-3F45-3BE170545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3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BD06A2-F77B-352E-3D38-CEB1C3B89D98}"/>
              </a:ext>
            </a:extLst>
          </p:cNvPr>
          <p:cNvSpPr txBox="1"/>
          <p:nvPr/>
        </p:nvSpPr>
        <p:spPr>
          <a:xfrm>
            <a:off x="657224" y="1099644"/>
            <a:ext cx="11534775" cy="1045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You can have a good question, and you also need a good experimental design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7051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ED574-4245-E47B-6A64-824C7E7AD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A2798-BF0C-5C1D-B978-EC167EBE917B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Design, Statistics, and Visualizations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2D3AB51-407F-78C8-638A-D203D2C87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4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B29C4F-00DE-C32D-EAEE-E98C76DEAF77}"/>
              </a:ext>
            </a:extLst>
          </p:cNvPr>
          <p:cNvSpPr txBox="1"/>
          <p:nvPr/>
        </p:nvSpPr>
        <p:spPr>
          <a:xfrm>
            <a:off x="657224" y="1099644"/>
            <a:ext cx="11534775" cy="2568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You can have a good question, and you also </a:t>
            </a:r>
            <a:r>
              <a:rPr lang="en-US" sz="2200" u="sng" dirty="0">
                <a:latin typeface="Arial" panose="020B0604020202020204" pitchFamily="34" charset="0"/>
                <a:cs typeface="Arial" panose="020B0604020202020204" pitchFamily="34" charset="0"/>
              </a:rPr>
              <a:t>need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 good experimental design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Does the venom microbial community differ across the gland of </a:t>
            </a:r>
            <a:r>
              <a:rPr lang="en-US" sz="2200" i="1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C. </a:t>
            </a:r>
            <a:r>
              <a:rPr lang="en-US" sz="2200" i="1" dirty="0" err="1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californiconus</a:t>
            </a: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Is the experimental design sufficient for answering this question? 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	If not, what needs to be included? Controls, n, assumptions,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4240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12624-82DC-B459-1BF0-E52ED156E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D62610-CA43-801C-1429-0BD02975689E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Design, Statistics, and Visualizations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DF4345B-8988-C416-E5D2-D4FAE062D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5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F5D5D-B043-9888-D1BF-AB9F7C664CE3}"/>
              </a:ext>
            </a:extLst>
          </p:cNvPr>
          <p:cNvSpPr txBox="1"/>
          <p:nvPr/>
        </p:nvSpPr>
        <p:spPr>
          <a:xfrm>
            <a:off x="657224" y="1099644"/>
            <a:ext cx="11534775" cy="3584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You can have a good question, and you also </a:t>
            </a:r>
            <a:r>
              <a:rPr lang="en-US" sz="2200" u="sng" dirty="0">
                <a:latin typeface="Arial" panose="020B0604020202020204" pitchFamily="34" charset="0"/>
                <a:cs typeface="Arial" panose="020B0604020202020204" pitchFamily="34" charset="0"/>
              </a:rPr>
              <a:t>need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 good experimental design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Does the venom microbial community differ across the gland of </a:t>
            </a:r>
            <a:r>
              <a:rPr lang="en-US" sz="2200" i="1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C. </a:t>
            </a:r>
            <a:r>
              <a:rPr lang="en-US" sz="2200" i="1" dirty="0" err="1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californiconus</a:t>
            </a: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Is the experimental design sufficient for answering this question? 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	If not, what needs to be included? Controls, n, assumptions,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Just because you have a p-value, doesn’t mean it’s real (or that it means something)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887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A9C7F-381E-5DE4-1813-CF7A96E81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D71262-E9D0-EC5E-0CC4-CC5C26CC5DC3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Design, Statistics, and Visualizations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393352-7395-32FC-B554-08C3BB0DE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6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6431D3-1988-D34F-F26B-43065962BAAE}"/>
              </a:ext>
            </a:extLst>
          </p:cNvPr>
          <p:cNvSpPr txBox="1"/>
          <p:nvPr/>
        </p:nvSpPr>
        <p:spPr>
          <a:xfrm>
            <a:off x="657224" y="1099644"/>
            <a:ext cx="11534775" cy="4092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You can have a good question, and you also </a:t>
            </a:r>
            <a:r>
              <a:rPr lang="en-US" sz="2200" u="sng" dirty="0">
                <a:latin typeface="Arial" panose="020B0604020202020204" pitchFamily="34" charset="0"/>
                <a:cs typeface="Arial" panose="020B0604020202020204" pitchFamily="34" charset="0"/>
              </a:rPr>
              <a:t>need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 good experimental design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Does the venom microbial community differ across the gland of </a:t>
            </a:r>
            <a:r>
              <a:rPr lang="en-US" sz="2200" i="1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C. </a:t>
            </a:r>
            <a:r>
              <a:rPr lang="en-US" sz="2200" i="1" dirty="0" err="1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californiconus</a:t>
            </a: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Is the experimental design sufficient for answering this question? 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	If not, what needs to be included? Controls, n, assumptions,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Just because you have a p-value, doesn’t mean it’s real (or that it means something)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How do trust the results we see? 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Why statistics are important. And the difference of visuals vs results</a:t>
            </a:r>
          </a:p>
        </p:txBody>
      </p:sp>
    </p:spTree>
    <p:extLst>
      <p:ext uri="{BB962C8B-B14F-4D97-AF65-F5344CB8AC3E}">
        <p14:creationId xmlns:p14="http://schemas.microsoft.com/office/powerpoint/2010/main" val="12419894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89280-FC7A-B37C-9B5A-CCBE098A4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A9BB0A-5C9C-FE60-95E5-30602024B0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5" t="23433" r="49381"/>
          <a:stretch>
            <a:fillRect/>
          </a:stretch>
        </p:blipFill>
        <p:spPr>
          <a:xfrm>
            <a:off x="185738" y="844784"/>
            <a:ext cx="5627517" cy="55831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26572D-17B9-062E-E813-16BE286C5850}"/>
              </a:ext>
            </a:extLst>
          </p:cNvPr>
          <p:cNvSpPr txBox="1"/>
          <p:nvPr/>
        </p:nvSpPr>
        <p:spPr>
          <a:xfrm>
            <a:off x="1233354" y="6289866"/>
            <a:ext cx="141642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Sample_Type</a:t>
            </a:r>
            <a:endParaRPr lang="en-US" sz="14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E2C38033-E636-BCA6-8043-07ACC45D0495}"/>
              </a:ext>
            </a:extLst>
          </p:cNvPr>
          <p:cNvSpPr/>
          <p:nvPr/>
        </p:nvSpPr>
        <p:spPr>
          <a:xfrm rot="16200000">
            <a:off x="1819613" y="4872603"/>
            <a:ext cx="243906" cy="2776817"/>
          </a:xfrm>
          <a:prstGeom prst="leftBrac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5CE6784-57F3-C2F6-A6EE-16BAC14BCFC0}"/>
              </a:ext>
            </a:extLst>
          </p:cNvPr>
          <p:cNvCxnSpPr>
            <a:cxnSpLocks/>
          </p:cNvCxnSpPr>
          <p:nvPr/>
        </p:nvCxnSpPr>
        <p:spPr>
          <a:xfrm>
            <a:off x="1233354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23D22F-768D-0268-524F-99D3FFA0B635}"/>
              </a:ext>
            </a:extLst>
          </p:cNvPr>
          <p:cNvCxnSpPr>
            <a:cxnSpLocks/>
          </p:cNvCxnSpPr>
          <p:nvPr/>
        </p:nvCxnSpPr>
        <p:spPr>
          <a:xfrm>
            <a:off x="1372307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040614-5AA7-346B-E275-E53D624E66B8}"/>
              </a:ext>
            </a:extLst>
          </p:cNvPr>
          <p:cNvCxnSpPr>
            <a:cxnSpLocks/>
          </p:cNvCxnSpPr>
          <p:nvPr/>
        </p:nvCxnSpPr>
        <p:spPr>
          <a:xfrm>
            <a:off x="1943807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E0AF89F-EF8F-DA59-9E75-5A5E425654B2}"/>
              </a:ext>
            </a:extLst>
          </p:cNvPr>
          <p:cNvCxnSpPr>
            <a:cxnSpLocks/>
          </p:cNvCxnSpPr>
          <p:nvPr/>
        </p:nvCxnSpPr>
        <p:spPr>
          <a:xfrm>
            <a:off x="2608316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B94CA20-82A9-BFEF-4ECB-B6B0F26ED4BD}"/>
              </a:ext>
            </a:extLst>
          </p:cNvPr>
          <p:cNvSpPr txBox="1"/>
          <p:nvPr/>
        </p:nvSpPr>
        <p:spPr>
          <a:xfrm>
            <a:off x="171449" y="0"/>
            <a:ext cx="11512545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What could be some reasons behind these differences?</a:t>
            </a: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603CA6CA-66FA-EB03-2FBC-EE1E33439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7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5" name="Picture 4" descr="A chart with different colored bars&#10;&#10;AI-generated content may be incorrect.">
            <a:extLst>
              <a:ext uri="{FF2B5EF4-FFF2-40B4-BE49-F238E27FC236}">
                <a16:creationId xmlns:a16="http://schemas.microsoft.com/office/drawing/2014/main" id="{97FA4388-84D4-D798-7EEF-343303A92E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494" y="1676400"/>
            <a:ext cx="6032500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791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9687D-33EB-EB16-ABDC-40CEF8A79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699D8B-F4EE-9433-E74A-629F3D6534C1}"/>
              </a:ext>
            </a:extLst>
          </p:cNvPr>
          <p:cNvSpPr txBox="1"/>
          <p:nvPr/>
        </p:nvSpPr>
        <p:spPr>
          <a:xfrm>
            <a:off x="339727" y="2896563"/>
            <a:ext cx="11512545" cy="1478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The data doesn’t lie, but your approach may trick you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Ensure you’re interpreting your data correctly</a:t>
            </a: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4F8BCA73-C142-BD79-3B47-67651FC89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8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003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D4F66-83CE-FE03-C237-A41274E48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D76DBB5-9C0E-2272-BAD1-79771C6A2A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5" t="23433" r="49381"/>
          <a:stretch>
            <a:fillRect/>
          </a:stretch>
        </p:blipFill>
        <p:spPr>
          <a:xfrm>
            <a:off x="185738" y="844784"/>
            <a:ext cx="5627517" cy="55831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9A79B6-C4FE-A937-C980-B3E186D17ACD}"/>
              </a:ext>
            </a:extLst>
          </p:cNvPr>
          <p:cNvSpPr txBox="1"/>
          <p:nvPr/>
        </p:nvSpPr>
        <p:spPr>
          <a:xfrm>
            <a:off x="1233354" y="6289866"/>
            <a:ext cx="141642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Sample_Type</a:t>
            </a:r>
            <a:endParaRPr lang="en-US" sz="14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05470679-E083-3B17-645C-FE46EF23059F}"/>
              </a:ext>
            </a:extLst>
          </p:cNvPr>
          <p:cNvSpPr/>
          <p:nvPr/>
        </p:nvSpPr>
        <p:spPr>
          <a:xfrm rot="16200000">
            <a:off x="1819613" y="4872603"/>
            <a:ext cx="243906" cy="2776817"/>
          </a:xfrm>
          <a:prstGeom prst="leftBrac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03DF50-587E-BA53-C709-2ED35B4446F5}"/>
              </a:ext>
            </a:extLst>
          </p:cNvPr>
          <p:cNvCxnSpPr>
            <a:cxnSpLocks/>
          </p:cNvCxnSpPr>
          <p:nvPr/>
        </p:nvCxnSpPr>
        <p:spPr>
          <a:xfrm>
            <a:off x="1233354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ECB5FC1-A6D1-D087-5869-EAB7CD723944}"/>
              </a:ext>
            </a:extLst>
          </p:cNvPr>
          <p:cNvCxnSpPr>
            <a:cxnSpLocks/>
          </p:cNvCxnSpPr>
          <p:nvPr/>
        </p:nvCxnSpPr>
        <p:spPr>
          <a:xfrm>
            <a:off x="1372307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D151DE6-C7C2-005C-C4D4-9FE15FD70B3C}"/>
              </a:ext>
            </a:extLst>
          </p:cNvPr>
          <p:cNvCxnSpPr>
            <a:cxnSpLocks/>
          </p:cNvCxnSpPr>
          <p:nvPr/>
        </p:nvCxnSpPr>
        <p:spPr>
          <a:xfrm>
            <a:off x="1943807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8ACDB56-5E90-BE26-522C-FF0652099526}"/>
              </a:ext>
            </a:extLst>
          </p:cNvPr>
          <p:cNvCxnSpPr>
            <a:cxnSpLocks/>
          </p:cNvCxnSpPr>
          <p:nvPr/>
        </p:nvCxnSpPr>
        <p:spPr>
          <a:xfrm>
            <a:off x="2608316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55A61D3-1C5B-CCA9-39D0-5712433DE83E}"/>
              </a:ext>
            </a:extLst>
          </p:cNvPr>
          <p:cNvSpPr txBox="1"/>
          <p:nvPr/>
        </p:nvSpPr>
        <p:spPr>
          <a:xfrm>
            <a:off x="171449" y="0"/>
            <a:ext cx="11512545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Both are correct within the appropriate context</a:t>
            </a: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D4EF8564-300B-C3ED-1387-C9824DC05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9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5" name="Picture 4" descr="A chart with different colored bars&#10;&#10;AI-generated content may be incorrect.">
            <a:extLst>
              <a:ext uri="{FF2B5EF4-FFF2-40B4-BE49-F238E27FC236}">
                <a16:creationId xmlns:a16="http://schemas.microsoft.com/office/drawing/2014/main" id="{A1245DCA-D417-F4A4-ACC4-45A0211F9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494" y="1676400"/>
            <a:ext cx="6032500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2224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5E52F-0329-9451-D394-83B9ADCB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ADE1E2-A2DF-47B3-7C17-D289FCAF8A68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Today’s Objectives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DD9B5C9-BFF8-A1C4-6EF0-6B8836685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10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37AB40-66D6-049C-8BF2-9F0CA41DC4C8}"/>
              </a:ext>
            </a:extLst>
          </p:cNvPr>
          <p:cNvSpPr txBox="1"/>
          <p:nvPr/>
        </p:nvSpPr>
        <p:spPr>
          <a:xfrm>
            <a:off x="657225" y="1099644"/>
            <a:ext cx="10877550" cy="1752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Importing our QIIME 2 results into 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Understanding the statistical tests we'll run and the plots we'll make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Creating publication-ready </a:t>
            </a:r>
            <a:r>
              <a:rPr lang="en-US" sz="2500" dirty="0" err="1">
                <a:latin typeface="Arial" panose="020B0604020202020204" pitchFamily="34" charset="0"/>
                <a:cs typeface="Arial" panose="020B0604020202020204" pitchFamily="34" charset="0"/>
              </a:rPr>
              <a:t>PCoA</a:t>
            </a: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 and relative abundance plots in ggplot2</a:t>
            </a:r>
          </a:p>
        </p:txBody>
      </p:sp>
    </p:spTree>
    <p:extLst>
      <p:ext uri="{BB962C8B-B14F-4D97-AF65-F5344CB8AC3E}">
        <p14:creationId xmlns:p14="http://schemas.microsoft.com/office/powerpoint/2010/main" val="26406372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540D7-9E73-D62C-838F-E7A251021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E8D680-62EA-02DE-AA14-DF5495087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11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3DF666-4E2C-E3C3-2E54-2D673E63C914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Getting QIIME2 Data into 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D54614-A30A-FA26-2216-DE2B82FB54BB}"/>
              </a:ext>
            </a:extLst>
          </p:cNvPr>
          <p:cNvSpPr txBox="1"/>
          <p:nvPr/>
        </p:nvSpPr>
        <p:spPr>
          <a:xfrm>
            <a:off x="672084" y="1519904"/>
            <a:ext cx="60990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library(qiime2R)</a:t>
            </a:r>
          </a:p>
          <a:p>
            <a:r>
              <a:rPr lang="en-US" dirty="0"/>
              <a:t>metadata &lt;- read_q2metadata("</a:t>
            </a:r>
            <a:r>
              <a:rPr lang="en-US" dirty="0" err="1"/>
              <a:t>metadata.tsv</a:t>
            </a:r>
            <a:r>
              <a:rPr lang="en-US" dirty="0"/>
              <a:t>")</a:t>
            </a:r>
          </a:p>
          <a:p>
            <a:r>
              <a:rPr lang="en-US" dirty="0" err="1"/>
              <a:t>asv_table</a:t>
            </a:r>
            <a:r>
              <a:rPr lang="en-US" dirty="0"/>
              <a:t> &lt;- </a:t>
            </a:r>
            <a:r>
              <a:rPr lang="en-US" dirty="0" err="1"/>
              <a:t>read_qza</a:t>
            </a:r>
            <a:r>
              <a:rPr lang="en-US" dirty="0"/>
              <a:t>("</a:t>
            </a:r>
            <a:r>
              <a:rPr lang="en-US" dirty="0" err="1"/>
              <a:t>table.qza</a:t>
            </a:r>
            <a:r>
              <a:rPr lang="en-US" dirty="0"/>
              <a:t>")$data</a:t>
            </a:r>
          </a:p>
          <a:p>
            <a:r>
              <a:rPr lang="en-US" dirty="0"/>
              <a:t>taxonomy &lt;- </a:t>
            </a:r>
            <a:r>
              <a:rPr lang="en-US" dirty="0" err="1"/>
              <a:t>read_qza</a:t>
            </a:r>
            <a:r>
              <a:rPr lang="en-US" dirty="0"/>
              <a:t>("</a:t>
            </a:r>
            <a:r>
              <a:rPr lang="en-US" dirty="0" err="1"/>
              <a:t>taxonomy.qza</a:t>
            </a:r>
            <a:r>
              <a:rPr lang="en-US" dirty="0"/>
              <a:t>")$data</a:t>
            </a:r>
          </a:p>
          <a:p>
            <a:r>
              <a:rPr lang="en-US" dirty="0"/>
              <a:t>tree &lt;- </a:t>
            </a:r>
            <a:r>
              <a:rPr lang="en-US" dirty="0" err="1"/>
              <a:t>read_qza</a:t>
            </a:r>
            <a:r>
              <a:rPr lang="en-US" dirty="0"/>
              <a:t>("rooted-</a:t>
            </a:r>
            <a:r>
              <a:rPr lang="en-US" dirty="0" err="1"/>
              <a:t>tree.qza</a:t>
            </a:r>
            <a:r>
              <a:rPr lang="en-US" dirty="0"/>
              <a:t>")$data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E3857-6319-3505-5099-C3CA38739A3A}"/>
              </a:ext>
            </a:extLst>
          </p:cNvPr>
          <p:cNvSpPr txBox="1"/>
          <p:nvPr/>
        </p:nvSpPr>
        <p:spPr>
          <a:xfrm>
            <a:off x="422910" y="921792"/>
            <a:ext cx="10877550" cy="59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Create a </a:t>
            </a:r>
            <a:r>
              <a:rPr lang="en-US" sz="2500" dirty="0" err="1">
                <a:latin typeface="Arial" panose="020B0604020202020204" pitchFamily="34" charset="0"/>
                <a:cs typeface="Arial" panose="020B0604020202020204" pitchFamily="34" charset="0"/>
              </a:rPr>
              <a:t>phyloseq</a:t>
            </a: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 object</a:t>
            </a:r>
          </a:p>
        </p:txBody>
      </p:sp>
    </p:spTree>
    <p:extLst>
      <p:ext uri="{BB962C8B-B14F-4D97-AF65-F5344CB8AC3E}">
        <p14:creationId xmlns:p14="http://schemas.microsoft.com/office/powerpoint/2010/main" val="3148245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AA31D-BBF9-65B7-F587-9162809FF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DAE90B-DF84-2D09-A69A-45B8275E9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12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8C67F5-EF1B-CD74-9EF9-920789D4BA5B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Alpha diversity: Which groups are ‘richer’?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757729-2683-DFF9-3301-A13B387DE30D}"/>
              </a:ext>
            </a:extLst>
          </p:cNvPr>
          <p:cNvSpPr txBox="1"/>
          <p:nvPr/>
        </p:nvSpPr>
        <p:spPr>
          <a:xfrm>
            <a:off x="694626" y="1023632"/>
            <a:ext cx="799947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Question: Does the venom gland tissue type (distal vs. bulb) affect the internal diversity of the microbial community?</a:t>
            </a:r>
          </a:p>
          <a:p>
            <a:endParaRPr lang="en-US" dirty="0"/>
          </a:p>
          <a:p>
            <a:r>
              <a:rPr lang="en-US" dirty="0"/>
              <a:t>The Metric: We'll use observed ASVs (richness) and Shannon (evenness) from yesterday's QIIME 2 run.</a:t>
            </a:r>
          </a:p>
          <a:p>
            <a:endParaRPr lang="en-US" dirty="0"/>
          </a:p>
          <a:p>
            <a:r>
              <a:rPr lang="en-US" dirty="0"/>
              <a:t>The Statistical Test:</a:t>
            </a:r>
          </a:p>
          <a:p>
            <a:endParaRPr lang="en-US" dirty="0"/>
          </a:p>
          <a:p>
            <a:r>
              <a:rPr lang="en-US" dirty="0"/>
              <a:t>    Non-parametric: Kruskal-Wallis (for &gt;2 groups, like the three tissue types) or Mann-Whitney U (for 2 groups, like Control vs. Experimental).</a:t>
            </a:r>
          </a:p>
          <a:p>
            <a:endParaRPr lang="en-US" dirty="0"/>
          </a:p>
          <a:p>
            <a:r>
              <a:rPr lang="en-US" dirty="0"/>
              <a:t>    Why these tests? Our alpha diversity data often isn't normally distributed, so we use non-parametric tests.</a:t>
            </a:r>
          </a:p>
          <a:p>
            <a:endParaRPr lang="en-US" dirty="0"/>
          </a:p>
          <a:p>
            <a:r>
              <a:rPr lang="en-US" dirty="0"/>
              <a:t>The Visualization: A boxplot in ggplot2 with points, with significance letters (e.g., 'a', 'b', 'c') above the groups to show which are significantly different.</a:t>
            </a:r>
          </a:p>
        </p:txBody>
      </p:sp>
    </p:spTree>
    <p:extLst>
      <p:ext uri="{BB962C8B-B14F-4D97-AF65-F5344CB8AC3E}">
        <p14:creationId xmlns:p14="http://schemas.microsoft.com/office/powerpoint/2010/main" val="1745332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94F04-FE56-7351-C353-25EC568F2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BB9C35A-AEAD-7D18-1942-84B319FDA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13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211041-C4FA-FFBB-8610-B5F2BCD2C25E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Beta diversity: PERMANOVA &amp; homogeneity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DE03E5-A9F0-89F8-D440-D6E68719F7FB}"/>
              </a:ext>
            </a:extLst>
          </p:cNvPr>
          <p:cNvSpPr txBox="1"/>
          <p:nvPr/>
        </p:nvSpPr>
        <p:spPr>
          <a:xfrm>
            <a:off x="562356" y="953203"/>
            <a:ext cx="1087755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 Question: Is the composition of the community different between our experimental groups (e.g., control vs. experimental)?</a:t>
            </a:r>
          </a:p>
          <a:p>
            <a:endParaRPr lang="en-US" dirty="0"/>
          </a:p>
          <a:p>
            <a:r>
              <a:rPr lang="en-US" dirty="0"/>
              <a:t>The Metric: We'll use the distance matrices we generated (Bray-Curtis, Jaccard, </a:t>
            </a:r>
            <a:r>
              <a:rPr lang="en-US" dirty="0" err="1"/>
              <a:t>UniFrac</a:t>
            </a:r>
            <a:r>
              <a:rPr lang="en-US" dirty="0"/>
              <a:t>).</a:t>
            </a:r>
          </a:p>
          <a:p>
            <a:endParaRPr lang="en-US" dirty="0"/>
          </a:p>
          <a:p>
            <a:r>
              <a:rPr lang="en-US" dirty="0"/>
              <a:t>The Statistical Test: PERMANOVA (adonis2 in vegan).</a:t>
            </a:r>
          </a:p>
          <a:p>
            <a:endParaRPr lang="en-US" dirty="0"/>
          </a:p>
          <a:p>
            <a:r>
              <a:rPr lang="en-US" dirty="0"/>
              <a:t>    Analogy: Think of it as an ANOVA, but for multivariate data (whole communities). It tests if the "center" (centroid) of the groups in a </a:t>
            </a:r>
            <a:r>
              <a:rPr lang="en-US" dirty="0" err="1"/>
              <a:t>PCoA</a:t>
            </a:r>
            <a:r>
              <a:rPr lang="en-US" dirty="0"/>
              <a:t> plot is significantly different.</a:t>
            </a:r>
          </a:p>
          <a:p>
            <a:endParaRPr lang="en-US" dirty="0"/>
          </a:p>
          <a:p>
            <a:r>
              <a:rPr lang="en-US" dirty="0"/>
              <a:t>The Crucial Check: A significant PERMANOVA result could mean the groups have different centers (real composition differences) OR that one group is just much more variable (dispersed) than the other.</a:t>
            </a:r>
          </a:p>
          <a:p>
            <a:endParaRPr lang="en-US" dirty="0"/>
          </a:p>
          <a:p>
            <a:r>
              <a:rPr lang="en-US" dirty="0"/>
              <a:t>The Test: BETADISPER.</a:t>
            </a:r>
          </a:p>
          <a:p>
            <a:endParaRPr lang="en-US" dirty="0"/>
          </a:p>
          <a:p>
            <a:r>
              <a:rPr lang="en-US" dirty="0"/>
              <a:t>    This tests if the spread of the data is the same across groups.</a:t>
            </a:r>
          </a:p>
          <a:p>
            <a:endParaRPr lang="en-US" dirty="0"/>
          </a:p>
          <a:p>
            <a:r>
              <a:rPr lang="en-US" dirty="0"/>
              <a:t>The Interpretation:</a:t>
            </a:r>
          </a:p>
          <a:p>
            <a:endParaRPr lang="en-US" dirty="0"/>
          </a:p>
          <a:p>
            <a:r>
              <a:rPr lang="en-US" dirty="0"/>
              <a:t>    If PERMANOVA is significant &amp; BETADISPER is NOT significant: Great! The groups truly have different compositions.</a:t>
            </a:r>
          </a:p>
          <a:p>
            <a:endParaRPr lang="en-US" dirty="0"/>
          </a:p>
          <a:p>
            <a:r>
              <a:rPr lang="en-US" dirty="0"/>
              <a:t>    If both are significant: The difference might be driven by one group being more variable. The interpretation is more complex.</a:t>
            </a:r>
          </a:p>
        </p:txBody>
      </p:sp>
    </p:spTree>
    <p:extLst>
      <p:ext uri="{BB962C8B-B14F-4D97-AF65-F5344CB8AC3E}">
        <p14:creationId xmlns:p14="http://schemas.microsoft.com/office/powerpoint/2010/main" val="3681608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CE3E1-7212-4C10-90C5-89746652B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C9EFBA-5887-0042-A4E0-7175AA194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14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F8B4E7-5DB1-733C-D086-786C01432A6B}"/>
              </a:ext>
            </a:extLst>
          </p:cNvPr>
          <p:cNvSpPr txBox="1"/>
          <p:nvPr/>
        </p:nvSpPr>
        <p:spPr>
          <a:xfrm>
            <a:off x="1263586" y="1409712"/>
            <a:ext cx="799947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 Import data with qiime2R.</a:t>
            </a:r>
          </a:p>
          <a:p>
            <a:endParaRPr lang="en-US" dirty="0"/>
          </a:p>
          <a:p>
            <a:r>
              <a:rPr lang="en-US" dirty="0"/>
              <a:t>    Run a PERMANOVA to test the effect of </a:t>
            </a:r>
            <a:r>
              <a:rPr lang="en-US" dirty="0" err="1"/>
              <a:t>tissue_compartment</a:t>
            </a:r>
            <a:r>
              <a:rPr lang="en-US" dirty="0"/>
              <a:t> and treatment on beta diversity.</a:t>
            </a:r>
          </a:p>
          <a:p>
            <a:endParaRPr lang="en-US" dirty="0"/>
          </a:p>
          <a:p>
            <a:r>
              <a:rPr lang="en-US" dirty="0"/>
              <a:t>    Create a </a:t>
            </a:r>
            <a:r>
              <a:rPr lang="en-US" dirty="0" err="1"/>
              <a:t>PCoA</a:t>
            </a:r>
            <a:r>
              <a:rPr lang="en-US" dirty="0"/>
              <a:t> plot with ggplot2, coloring points by </a:t>
            </a:r>
            <a:r>
              <a:rPr lang="en-US" dirty="0" err="1"/>
              <a:t>tissue_compartment</a:t>
            </a:r>
            <a:r>
              <a:rPr lang="en-US" dirty="0"/>
              <a:t> and shaping them by treatment.</a:t>
            </a:r>
          </a:p>
          <a:p>
            <a:endParaRPr lang="en-US" dirty="0"/>
          </a:p>
          <a:p>
            <a:r>
              <a:rPr lang="en-US" dirty="0"/>
              <a:t>    Create a relative abundance bar plot to visualize the "who" behind the statistics.</a:t>
            </a:r>
          </a:p>
          <a:p>
            <a:endParaRPr lang="en-US" dirty="0"/>
          </a:p>
          <a:p>
            <a:r>
              <a:rPr lang="en-US" dirty="0"/>
              <a:t>This is the raw material for the figures in our future publication.</a:t>
            </a:r>
          </a:p>
        </p:txBody>
      </p:sp>
    </p:spTree>
    <p:extLst>
      <p:ext uri="{BB962C8B-B14F-4D97-AF65-F5344CB8AC3E}">
        <p14:creationId xmlns:p14="http://schemas.microsoft.com/office/powerpoint/2010/main" val="26770233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C9A32-3CD1-CEC0-92A9-781154D9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F32F8BB-8EBC-3CB2-3BF6-ED9DB51EE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15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8326CD-B11C-B821-5FE8-01B346866CC0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Next Steps and Timeline Long-Term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0E87F7-02BB-B6D8-C7D9-B268F2609A03}"/>
              </a:ext>
            </a:extLst>
          </p:cNvPr>
          <p:cNvSpPr txBox="1"/>
          <p:nvPr/>
        </p:nvSpPr>
        <p:spPr>
          <a:xfrm>
            <a:off x="714946" y="1104912"/>
            <a:ext cx="1033405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/>
              <a:t>Now that you’ve completed the entire analysis process, </a:t>
            </a:r>
            <a:br>
              <a:rPr lang="en-US" sz="2200" dirty="0"/>
            </a:br>
            <a:r>
              <a:rPr lang="en-US" sz="2200" dirty="0"/>
              <a:t>what’s clear and what remains hazy? </a:t>
            </a:r>
            <a:br>
              <a:rPr lang="en-US" sz="2200" dirty="0"/>
            </a:b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would you do personally to improve the dataset?</a:t>
            </a:r>
            <a:br>
              <a:rPr lang="en-US" sz="2200" dirty="0"/>
            </a:br>
            <a:r>
              <a:rPr lang="en-US" sz="2200" dirty="0"/>
              <a:t>What would you do personally to improve the analysis?</a:t>
            </a:r>
            <a:br>
              <a:rPr lang="en-US" sz="2200" dirty="0"/>
            </a:b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additional questions could be addressed with the data available?</a:t>
            </a:r>
          </a:p>
          <a:p>
            <a:pPr marL="457200" indent="-457200">
              <a:buFont typeface="+mj-lt"/>
              <a:buAutoNum type="arabicPeriod"/>
            </a:pP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does this look like in terms of a publication and workflow?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3F7CD-0210-35A9-1624-BCA87E6EA1A6}"/>
              </a:ext>
            </a:extLst>
          </p:cNvPr>
          <p:cNvSpPr txBox="1"/>
          <p:nvPr/>
        </p:nvSpPr>
        <p:spPr>
          <a:xfrm>
            <a:off x="474345" y="5780108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3200" b="1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737335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328</TotalTime>
  <Words>967</Words>
  <Application>Microsoft Macintosh PowerPoint</Application>
  <PresentationFormat>Widescreen</PresentationFormat>
  <Paragraphs>103</Paragraphs>
  <Slides>16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Sierra Smith</dc:creator>
  <cp:lastModifiedBy>Sabah Ul-Hasan</cp:lastModifiedBy>
  <cp:revision>18</cp:revision>
  <dcterms:created xsi:type="dcterms:W3CDTF">2026-02-23T15:09:50Z</dcterms:created>
  <dcterms:modified xsi:type="dcterms:W3CDTF">2026-03-08T21:18:22Z</dcterms:modified>
</cp:coreProperties>
</file>