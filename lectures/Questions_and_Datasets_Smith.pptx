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314" r:id="rId4"/>
    <p:sldId id="298" r:id="rId5"/>
    <p:sldId id="299" r:id="rId6"/>
    <p:sldId id="300" r:id="rId7"/>
    <p:sldId id="301" r:id="rId8"/>
    <p:sldId id="296" r:id="rId9"/>
    <p:sldId id="302" r:id="rId10"/>
    <p:sldId id="303" r:id="rId11"/>
    <p:sldId id="259" r:id="rId12"/>
    <p:sldId id="304" r:id="rId13"/>
    <p:sldId id="305" r:id="rId14"/>
    <p:sldId id="306" r:id="rId15"/>
    <p:sldId id="307" r:id="rId16"/>
    <p:sldId id="297" r:id="rId17"/>
    <p:sldId id="308" r:id="rId18"/>
    <p:sldId id="309" r:id="rId19"/>
    <p:sldId id="310" r:id="rId20"/>
    <p:sldId id="311" r:id="rId21"/>
    <p:sldId id="312" r:id="rId22"/>
    <p:sldId id="313" r:id="rId23"/>
    <p:sldId id="29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1"/>
    <p:restoredTop sz="94133"/>
  </p:normalViewPr>
  <p:slideViewPr>
    <p:cSldViewPr snapToGrid="0">
      <p:cViewPr varScale="1">
        <p:scale>
          <a:sx n="105" d="100"/>
          <a:sy n="105" d="100"/>
        </p:scale>
        <p:origin x="82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6042CB-28A2-754D-ACCB-4F0CF49EE203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610D6-285C-CD48-A777-0BA559C51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55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2AD5E-4BE2-503A-62CF-12C04B9D7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299DD-5832-02FC-7ABA-71F9B5199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E5A05-9F0C-5130-7071-448DF5BF8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B0531-6360-8F5F-56E7-36B18C87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590E5-CF16-D559-3EEC-AED055BE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66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314B-7013-FFEE-8977-080A60C11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445A8-2E0A-40A5-292F-4580066E0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35F94-D3C1-4F22-C9AF-14D3C0818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B5602-0C46-EF89-D514-94A9C173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4BCCB-F201-6F0B-88FF-3E9BDEB14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9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AF28-C88D-A870-6F92-CE079C002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70913-9CD3-6ADC-A320-50E1BD03F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C047F-02BE-6EC7-E2CF-1346C7898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82E54-0672-5FC0-2EAA-14E4C74CC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B6663-D60B-D163-2EF1-ED1FC6D3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002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DD00-1E5C-A7CF-F4F3-C9A59A559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6BD92-D32D-391D-B91C-FE38EEB78C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E28E6-95F4-EBC2-4C26-19B48C97C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6E133-8210-7005-712F-4A2F04A04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21C61-1510-BA38-9186-FDF4E70EA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82DF5-384F-4118-24D1-782A6A27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36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0E4AB-B561-527D-F903-C1F230FC9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137B4-2319-846E-50AF-52882A4A2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50FE4-CB4B-D6A8-ACCC-77C612A76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08612A-5CE9-D4BA-DC09-93DEE3582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AC77CF-5744-8B93-5CD0-2317347B65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6AAC24-C4DC-29E0-CAE9-1D7C8D791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1A2FFA-9407-449F-CA8F-50403529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16EC76-FACE-4808-7E3E-3072EDFB6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60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82884-B46C-4B43-5D28-6CC031C4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E030A4-8F63-BFF3-E907-16352FCB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329BE-55C7-D7DA-BAEE-A5A5B2F3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EC740-C9CC-BB83-4CD6-5E8F87158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84DEDD-9389-68B5-D9F4-59AFF6180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4D0948-7BFA-DB49-3026-6C24D929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F6551-23EC-0253-BD1A-5ACB013FF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6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C69C1-7287-EE2E-2708-444A8D68E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A1E32-DA8D-956C-66A9-7EDB2C44F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5186F-A6CE-7AFF-780E-89A2310CA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92813-E0AF-923C-1439-FFF31A14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A96FD-B1E9-D962-651C-7833BC16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7189B-D9DD-1DB9-3D41-64459BE75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81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35C4-45BA-F323-9B43-5266C4A7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F28D96-575F-B5C0-D669-BF3ADCF78B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7677B-E76E-427D-DE89-C4ECF0ED8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F8E93-1384-3B93-7BD2-36CAB4F1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F2EEB-14FD-CCBD-6D2A-A24152DC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43486-E071-3D22-3A30-B9DD4D86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85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0C19-5CC0-4731-FEE7-124BAF8E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5F3B8-0744-7C1C-C13E-6BC747F30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A4608-A174-2368-BAEC-0AEC32C90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B2A1D-2F00-7BA3-37A8-884174AD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FB07B-44E5-C6EA-64A1-217D3669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21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88AA4-8957-23B6-06DD-E62B2781B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92CD2-36E1-A8F3-9F9F-2680F3E7C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7C900-0CF5-407A-5DBC-4029D026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49370-0E60-F197-F6E9-F86E55A5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3962C-7D37-77F9-B747-E3C0F560E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27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E8756C-2AA5-1DBA-FED6-C53936FB1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FD389-8F95-6BEC-A6B1-5E2E7A0A3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DE221-888B-0B67-110F-2CA1CA4D0F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0296B3-6EEC-114C-BC37-B0B61E99771B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85D89-5FDA-53BD-E01B-01A33C474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E15DE-ACD0-89AD-16C5-61F7D1017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23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cell&#10;&#10;AI-generated content may be incorrect.">
            <a:extLst>
              <a:ext uri="{FF2B5EF4-FFF2-40B4-BE49-F238E27FC236}">
                <a16:creationId xmlns:a16="http://schemas.microsoft.com/office/drawing/2014/main" id="{84E5D0E8-8A4D-585E-7B37-57CBF499EF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59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383E5E-A068-E8F8-77FD-CFABAB2C9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29620"/>
            <a:ext cx="9144000" cy="3125546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Questions</a:t>
            </a:r>
            <a:b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b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EFC89C-9D57-11EC-151E-F99C83C2C364}"/>
              </a:ext>
            </a:extLst>
          </p:cNvPr>
          <p:cNvSpPr txBox="1">
            <a:spLocks/>
          </p:cNvSpPr>
          <p:nvPr/>
        </p:nvSpPr>
        <p:spPr>
          <a:xfrm>
            <a:off x="4020273" y="4355166"/>
            <a:ext cx="4151453" cy="1450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Sierra Smith</a:t>
            </a:r>
          </a:p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UPRM</a:t>
            </a:r>
          </a:p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March 18, 2026</a:t>
            </a:r>
          </a:p>
        </p:txBody>
      </p:sp>
    </p:spTree>
    <p:extLst>
      <p:ext uri="{BB962C8B-B14F-4D97-AF65-F5344CB8AC3E}">
        <p14:creationId xmlns:p14="http://schemas.microsoft.com/office/powerpoint/2010/main" val="390246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D6999-4B7C-405E-A070-6DC3D6C3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Geographic Location and Temporal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E4AE76-5E13-4057-DEAE-EF1967666D00}"/>
              </a:ext>
            </a:extLst>
          </p:cNvPr>
          <p:cNvSpPr txBox="1"/>
          <p:nvPr/>
        </p:nvSpPr>
        <p:spPr>
          <a:xfrm>
            <a:off x="838199" y="1690688"/>
            <a:ext cx="80678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Different geographic locations of collection: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Monterey, San Diego, Puerto Nuevo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Seasonal variation: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Summer 2016 vs. Summer 2017 vs. Winter 2016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is on plate 2, would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Must include at least one water control sample from each site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4CD60-98A1-DF15-FA0F-911F3DC148D3}"/>
              </a:ext>
            </a:extLst>
          </p:cNvPr>
          <p:cNvSpPr/>
          <p:nvPr/>
        </p:nvSpPr>
        <p:spPr>
          <a:xfrm>
            <a:off x="838199" y="1690688"/>
            <a:ext cx="8805673" cy="3539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8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770A9-BDE1-DA04-8C71-6B5F2E164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B331C-A952-73DC-6C73-11F819773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Geographic Location and Temporal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F8C4CD-465C-27B6-59A5-E0952A951147}"/>
              </a:ext>
            </a:extLst>
          </p:cNvPr>
          <p:cNvSpPr txBox="1"/>
          <p:nvPr/>
        </p:nvSpPr>
        <p:spPr>
          <a:xfrm>
            <a:off x="838199" y="1690688"/>
            <a:ext cx="80678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Different geographic locations of collection: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Monterey, San Diego, Puerto Nuevo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Seasonal variation: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Summer 2016 vs. Summer 2017 vs. Winter 2016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is on plate 2, would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Must include at least one water control sample from each site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357E4-4760-8D3C-DF70-05776CA10B36}"/>
              </a:ext>
            </a:extLst>
          </p:cNvPr>
          <p:cNvSpPr/>
          <p:nvPr/>
        </p:nvSpPr>
        <p:spPr>
          <a:xfrm>
            <a:off x="838199" y="2487168"/>
            <a:ext cx="8805673" cy="274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78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F1ADA-1631-3BFA-A324-DE9852B55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A5E0-4B9E-3E01-27CE-6FC7F338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Geographic Location and Temporal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5836B-8E91-E844-84D7-9B34058C4DC7}"/>
              </a:ext>
            </a:extLst>
          </p:cNvPr>
          <p:cNvSpPr txBox="1"/>
          <p:nvPr/>
        </p:nvSpPr>
        <p:spPr>
          <a:xfrm>
            <a:off x="838199" y="1690688"/>
            <a:ext cx="80678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Different geographic locations of collection: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Monterey, San Diego, Puerto Nuevo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Seasonal variation: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Summer 2016 vs. Summer 2017 vs. Winter 2016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is on plate 2, would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Must include at least one water control sample from each site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7981FA-5FB2-5C2C-7CD6-1100415B11E3}"/>
              </a:ext>
            </a:extLst>
          </p:cNvPr>
          <p:cNvSpPr/>
          <p:nvPr/>
        </p:nvSpPr>
        <p:spPr>
          <a:xfrm>
            <a:off x="838199" y="3255264"/>
            <a:ext cx="8805673" cy="1975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3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AAE9D-286D-1703-5918-9C5BE7945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62F77-5C55-7264-DE6F-D89496BA6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Geographic Location and Temporal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03E50-B089-840A-76C3-319A79A7687F}"/>
              </a:ext>
            </a:extLst>
          </p:cNvPr>
          <p:cNvSpPr txBox="1"/>
          <p:nvPr/>
        </p:nvSpPr>
        <p:spPr>
          <a:xfrm>
            <a:off x="838199" y="1690688"/>
            <a:ext cx="80678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Different geographic locations of collection: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Monterey, San Diego, Puerto Nuevo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Seasonal variation: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Summer 2016 vs. Summer 2017 vs. Winter 2016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is on plate 2, would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Must include at least one water control sample from each site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506892-A33D-6377-0EA4-630A8C80C6BE}"/>
              </a:ext>
            </a:extLst>
          </p:cNvPr>
          <p:cNvSpPr/>
          <p:nvPr/>
        </p:nvSpPr>
        <p:spPr>
          <a:xfrm>
            <a:off x="838199" y="3904804"/>
            <a:ext cx="8805673" cy="1325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2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363AC-8D5B-BA23-64C3-191FD3955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3B7FA-90DB-0D48-A381-26070A2E5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Geographic Location and Temporal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0D53C3-B367-8FBC-BECE-25C7A66CD490}"/>
              </a:ext>
            </a:extLst>
          </p:cNvPr>
          <p:cNvSpPr txBox="1"/>
          <p:nvPr/>
        </p:nvSpPr>
        <p:spPr>
          <a:xfrm>
            <a:off x="838199" y="1690688"/>
            <a:ext cx="80678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Different geographic locations of collection: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Monterey, San Diego, Puerto Nuevo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Seasonal variation: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Summer 2016 vs. Summer 2017 vs. Winter 2016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is on plate 2, would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Must include at least one water control sample from each site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716789-7F2F-1148-E3CB-DC38F2A87BA3}"/>
              </a:ext>
            </a:extLst>
          </p:cNvPr>
          <p:cNvSpPr/>
          <p:nvPr/>
        </p:nvSpPr>
        <p:spPr>
          <a:xfrm>
            <a:off x="838199" y="4352544"/>
            <a:ext cx="8805673" cy="877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26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700D3-8506-8A15-0DD5-39496B50D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6B8C-925F-B436-EC0C-4A8688B0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Geographic Location and Temporal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AEE2E-3BFA-426E-2C94-F8E1D58D7566}"/>
              </a:ext>
            </a:extLst>
          </p:cNvPr>
          <p:cNvSpPr txBox="1"/>
          <p:nvPr/>
        </p:nvSpPr>
        <p:spPr>
          <a:xfrm>
            <a:off x="838199" y="1690688"/>
            <a:ext cx="80678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Different geographic locations of collection: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Monterey, San Diego, Puerto Nuevo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Seasonal variation: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Summer 2016 vs. Summer 2017 vs. Winter 2016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is on plate 2, would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Must include at least one water control sample from each site</a:t>
            </a:r>
          </a:p>
        </p:txBody>
      </p:sp>
    </p:spTree>
    <p:extLst>
      <p:ext uri="{BB962C8B-B14F-4D97-AF65-F5344CB8AC3E}">
        <p14:creationId xmlns:p14="http://schemas.microsoft.com/office/powerpoint/2010/main" val="26896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4CAB0-DDCF-5185-E5EB-036BECBC5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01D80-90B8-46ED-1E9F-92F5AC87B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Expanded Tissue/Sample 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9ADD6-D11E-6C3D-83D1-32F0EAFDEB2B}"/>
              </a:ext>
            </a:extLst>
          </p:cNvPr>
          <p:cNvSpPr txBox="1"/>
          <p:nvPr/>
        </p:nvSpPr>
        <p:spPr>
          <a:xfrm>
            <a:off x="838199" y="1690688"/>
            <a:ext cx="80678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Additional tissues with full dataset: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Gut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Radula Sac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Shell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Egg/Egg sac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is on plate 2, would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85031C-F6D4-2DF3-A962-2BDD08ED3697}"/>
              </a:ext>
            </a:extLst>
          </p:cNvPr>
          <p:cNvSpPr/>
          <p:nvPr/>
        </p:nvSpPr>
        <p:spPr>
          <a:xfrm>
            <a:off x="838199" y="1690688"/>
            <a:ext cx="8805673" cy="3539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2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3F888-14F7-A0C6-C61A-84E6B4B23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55A1F-2E0A-429A-F021-60892C779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Expanded Tissue/Sample 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DF53B6-A6CD-B273-0269-0E850AED646D}"/>
              </a:ext>
            </a:extLst>
          </p:cNvPr>
          <p:cNvSpPr txBox="1"/>
          <p:nvPr/>
        </p:nvSpPr>
        <p:spPr>
          <a:xfrm>
            <a:off x="838199" y="1690688"/>
            <a:ext cx="80678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Additional tissues with full dataset: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Gut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Radula Sac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Shell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Egg/Egg sac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is on plate 2, would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0ABC93-2155-AF99-2A21-1B9162E8727C}"/>
              </a:ext>
            </a:extLst>
          </p:cNvPr>
          <p:cNvSpPr/>
          <p:nvPr/>
        </p:nvSpPr>
        <p:spPr>
          <a:xfrm>
            <a:off x="838199" y="3621024"/>
            <a:ext cx="8805673" cy="1609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40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EFF39-F657-81AC-A6B6-BDE57E564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ADA4-07E3-C722-13CD-9257E5FC1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Expanded Tissue/Sample 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A1115-9622-A987-0278-031818623BD6}"/>
              </a:ext>
            </a:extLst>
          </p:cNvPr>
          <p:cNvSpPr txBox="1"/>
          <p:nvPr/>
        </p:nvSpPr>
        <p:spPr>
          <a:xfrm>
            <a:off x="838199" y="1690688"/>
            <a:ext cx="80678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Additional tissues with full dataset: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Gut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Radula Sac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Shell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Egg/Egg sac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is on plate 2, would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</p:txBody>
      </p:sp>
    </p:spTree>
    <p:extLst>
      <p:ext uri="{BB962C8B-B14F-4D97-AF65-F5344CB8AC3E}">
        <p14:creationId xmlns:p14="http://schemas.microsoft.com/office/powerpoint/2010/main" val="1585787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F559B-B108-8F60-BA25-38EA73DC1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81658-00D3-6278-DE49-A9BA9F528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Experimental Datasets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3150CE-B46D-3B9A-50B0-C5A5AC3FA661}"/>
              </a:ext>
            </a:extLst>
          </p:cNvPr>
          <p:cNvSpPr txBox="1"/>
          <p:nvPr/>
        </p:nvSpPr>
        <p:spPr>
          <a:xfrm>
            <a:off x="838199" y="1690688"/>
            <a:ext cx="80678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Whole gland at different pressures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 atm vs. 100 PSI vs. 300 PSI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Exposure to prey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data is on plate 1,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Must include 1 water control sample from prey exposure experiment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37712D-FD92-DC53-018D-6677E26DEC09}"/>
              </a:ext>
            </a:extLst>
          </p:cNvPr>
          <p:cNvSpPr/>
          <p:nvPr/>
        </p:nvSpPr>
        <p:spPr>
          <a:xfrm>
            <a:off x="838199" y="1690688"/>
            <a:ext cx="8805673" cy="3539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984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B725E-1F0A-3F66-FC8D-28452BC68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599CE-6FB3-0FAA-7C09-B684A437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Experimental Datasets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2998A6-E4AE-B125-9579-03392A3FFEFB}"/>
              </a:ext>
            </a:extLst>
          </p:cNvPr>
          <p:cNvSpPr txBox="1"/>
          <p:nvPr/>
        </p:nvSpPr>
        <p:spPr>
          <a:xfrm>
            <a:off x="838199" y="1690688"/>
            <a:ext cx="80678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Whole gland at different pressures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 atm vs. 100 PSI vs. 300 PSI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Exposure to prey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data is on plate 1,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Must include 1 water control sample from prey exposure experiment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5DF1CD-10B7-60B8-57E1-87F62F1ADAF4}"/>
              </a:ext>
            </a:extLst>
          </p:cNvPr>
          <p:cNvSpPr/>
          <p:nvPr/>
        </p:nvSpPr>
        <p:spPr>
          <a:xfrm>
            <a:off x="838199" y="2499360"/>
            <a:ext cx="8805673" cy="2731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207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83E10-56DD-2AD3-4DB2-DD19CF299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BA6F5-498A-D979-CCC6-6BAB4109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Experimental Datasets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854D2-ECCC-78B9-6259-C432CC47DFF3}"/>
              </a:ext>
            </a:extLst>
          </p:cNvPr>
          <p:cNvSpPr txBox="1"/>
          <p:nvPr/>
        </p:nvSpPr>
        <p:spPr>
          <a:xfrm>
            <a:off x="838199" y="1690688"/>
            <a:ext cx="80678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Whole gland at different pressures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 atm vs. 100 PSI vs. 300 PSI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Exposure to prey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data is on plate 1,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Must include 1 water control sample from prey exposure experiment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865EFA-4AD2-F0F0-F92C-E9DA45DD0D79}"/>
              </a:ext>
            </a:extLst>
          </p:cNvPr>
          <p:cNvSpPr/>
          <p:nvPr/>
        </p:nvSpPr>
        <p:spPr>
          <a:xfrm>
            <a:off x="838199" y="2865120"/>
            <a:ext cx="8805673" cy="2365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72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98197-6DEE-DC8D-D233-FAE32072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89953-43DF-5C01-98DE-FA72BEB36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Experimental Datasets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5E28BF-EEEF-8D3D-FC24-1CD9BFB16A41}"/>
              </a:ext>
            </a:extLst>
          </p:cNvPr>
          <p:cNvSpPr txBox="1"/>
          <p:nvPr/>
        </p:nvSpPr>
        <p:spPr>
          <a:xfrm>
            <a:off x="838199" y="1690688"/>
            <a:ext cx="80678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Whole gland at different pressures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 atm vs. 100 PSI vs. 300 PSI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Exposure to prey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data is on plate 1,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Must include 1 water control sample from prey exposure experiment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F7BB25-7511-F2E4-6310-0B27B2290080}"/>
              </a:ext>
            </a:extLst>
          </p:cNvPr>
          <p:cNvSpPr/>
          <p:nvPr/>
        </p:nvSpPr>
        <p:spPr>
          <a:xfrm>
            <a:off x="838199" y="3584448"/>
            <a:ext cx="8805673" cy="1645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58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4C4CC-4BEF-3FF3-2437-572C99CF0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017DF-4B30-7335-00E4-A490491D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Experimental Datasets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9F44AA-35F5-B31F-F88F-4A00875E23D9}"/>
              </a:ext>
            </a:extLst>
          </p:cNvPr>
          <p:cNvSpPr txBox="1"/>
          <p:nvPr/>
        </p:nvSpPr>
        <p:spPr>
          <a:xfrm>
            <a:off x="838199" y="1690688"/>
            <a:ext cx="80678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Whole gland at different pressures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 atm vs. 100 PSI vs. 300 PSI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Exposure to prey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data is on plate 1,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Must include 1 water control sample from prey exposure experiment</a:t>
            </a:r>
          </a:p>
        </p:txBody>
      </p:sp>
    </p:spTree>
    <p:extLst>
      <p:ext uri="{BB962C8B-B14F-4D97-AF65-F5344CB8AC3E}">
        <p14:creationId xmlns:p14="http://schemas.microsoft.com/office/powerpoint/2010/main" val="1775879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37F42-2227-94F7-7EB5-D7DE67221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94F46-19D4-5E48-D736-7A68F2E8A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Preparatory Analyses for Proteomic/Metabolomic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E8CD7-837C-263A-8DEB-C1DC9AB3DD5F}"/>
              </a:ext>
            </a:extLst>
          </p:cNvPr>
          <p:cNvSpPr txBox="1"/>
          <p:nvPr/>
        </p:nvSpPr>
        <p:spPr>
          <a:xfrm>
            <a:off x="838199" y="1690688"/>
            <a:ext cx="806780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 microbiome to proteomic data downstream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Sample size = 188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 microbiome, proteomic, AND metabolomic data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Sample size = 30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Impact of antibiotic treatment vs. gland in sterilized water vs. untreated gland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data is on plate 1,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Diving into the literature to connect microbiome + metabolomic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C7B48-6782-8EA6-2D6F-C6C4094FD6D8}"/>
              </a:ext>
            </a:extLst>
          </p:cNvPr>
          <p:cNvSpPr/>
          <p:nvPr/>
        </p:nvSpPr>
        <p:spPr>
          <a:xfrm>
            <a:off x="838199" y="1690688"/>
            <a:ext cx="8805673" cy="49905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27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EDAD5-F5C7-643B-1AC2-76C6F3151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188FD-6E55-344F-71AA-B90EBB688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Preparatory Analyses for Proteomic/Metabolomic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6BEA6A-493B-4FC2-B40E-41EDB5EA4224}"/>
              </a:ext>
            </a:extLst>
          </p:cNvPr>
          <p:cNvSpPr txBox="1"/>
          <p:nvPr/>
        </p:nvSpPr>
        <p:spPr>
          <a:xfrm>
            <a:off x="838199" y="1690688"/>
            <a:ext cx="806780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 microbiome to proteomic data downstream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Sample size = 188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 microbiome, proteomic, AND metabolomic data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Sample size = 30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Impact of antibiotic treatment vs. gland in sterilized water vs. untreated gland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data is on plate 1,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Diving into the literature to connect microbiome + metabolomic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BEC1B2-902D-6366-5735-C7AAF7F5227D}"/>
              </a:ext>
            </a:extLst>
          </p:cNvPr>
          <p:cNvSpPr/>
          <p:nvPr/>
        </p:nvSpPr>
        <p:spPr>
          <a:xfrm>
            <a:off x="838199" y="2877312"/>
            <a:ext cx="8805673" cy="3803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63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1FA79-F0D2-B4C2-28BA-42A618E6D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1360C-D272-7D69-FA9E-6334A3E0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Preparatory Analyses for Proteomic/Metabolomic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C14811-0A54-DC7D-C8D0-E6AB23450123}"/>
              </a:ext>
            </a:extLst>
          </p:cNvPr>
          <p:cNvSpPr txBox="1"/>
          <p:nvPr/>
        </p:nvSpPr>
        <p:spPr>
          <a:xfrm>
            <a:off x="838199" y="1690688"/>
            <a:ext cx="806780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 microbiome to proteomic data downstream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Sample size = 188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 microbiome, proteomic, AND metabolomic data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Sample size = 30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Impact of antibiotic treatment vs. gland in sterilized water vs. untreated gland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data is on plate 1,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Diving into the literature to connect microbiome + metabolomic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82D15B-65A1-8DCF-5955-C2067C9E9B36}"/>
              </a:ext>
            </a:extLst>
          </p:cNvPr>
          <p:cNvSpPr/>
          <p:nvPr/>
        </p:nvSpPr>
        <p:spPr>
          <a:xfrm>
            <a:off x="838199" y="3962400"/>
            <a:ext cx="8805673" cy="274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44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3E7D7-160A-A12F-EF39-9FECCD4A6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B1D9-946E-8664-EEFD-DABAB5092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Preparatory Analyses for Proteomic/Metabolomic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C8E49E-0AC2-762B-66F3-F51F08963400}"/>
              </a:ext>
            </a:extLst>
          </p:cNvPr>
          <p:cNvSpPr txBox="1"/>
          <p:nvPr/>
        </p:nvSpPr>
        <p:spPr>
          <a:xfrm>
            <a:off x="838199" y="1690688"/>
            <a:ext cx="806780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 microbiome to proteomic data downstream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Sample size = 188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 microbiome, proteomic, AND metabolomic data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Sample size = 30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Impact of antibiotic treatment vs. gland in sterilized water vs. untreated gland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data is on plate 1,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Diving into the literature to connect microbiome + metabolomic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7361-EAA9-B958-C5C3-9651DCEA6027}"/>
              </a:ext>
            </a:extLst>
          </p:cNvPr>
          <p:cNvSpPr/>
          <p:nvPr/>
        </p:nvSpPr>
        <p:spPr>
          <a:xfrm>
            <a:off x="838199" y="4693920"/>
            <a:ext cx="8805673" cy="2011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42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C2AAB-3037-F2FC-7FCC-82AEB71FD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A690A-D561-36D5-FA58-D66761B12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Preparatory Analyses for Proteomic/Metabolomic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A9B34-09D2-E2D8-6D7A-60D70AB68FF9}"/>
              </a:ext>
            </a:extLst>
          </p:cNvPr>
          <p:cNvSpPr txBox="1"/>
          <p:nvPr/>
        </p:nvSpPr>
        <p:spPr>
          <a:xfrm>
            <a:off x="838199" y="1690688"/>
            <a:ext cx="806780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 microbiome to proteomic data downstream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Sample size = 188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 microbiome, proteomic, AND metabolomic data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Sample size = 30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Impact of antibiotic treatment vs. gland in sterilized water vs. untreated gland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data is on plate 1,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Diving into the literature to connect microbiome + metabolomic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88B5D9-18D1-8AF2-F558-F75A35A96445}"/>
              </a:ext>
            </a:extLst>
          </p:cNvPr>
          <p:cNvSpPr/>
          <p:nvPr/>
        </p:nvSpPr>
        <p:spPr>
          <a:xfrm>
            <a:off x="838199" y="5380036"/>
            <a:ext cx="8805673" cy="1325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13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DD5BE-9843-A769-6DEC-68D50C2E1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9FD26-6763-C473-2C95-1C211DF21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Preparatory Analyses for Proteomic/Metabolomic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535F7-7C88-91CA-0A96-AE67302E19C8}"/>
              </a:ext>
            </a:extLst>
          </p:cNvPr>
          <p:cNvSpPr txBox="1"/>
          <p:nvPr/>
        </p:nvSpPr>
        <p:spPr>
          <a:xfrm>
            <a:off x="838199" y="1690688"/>
            <a:ext cx="806780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 microbiome to proteomic data downstream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Sample size = 188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 microbiome, proteomic, AND metabolomic data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Sample size = 30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Impact of antibiotic treatment vs. gland in sterilized water vs. untreated gland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data is on plate 1,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Diving into the literature to connect microbiome + metabolomic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87A718-26AE-5B0E-69BC-E13A20BBC644}"/>
              </a:ext>
            </a:extLst>
          </p:cNvPr>
          <p:cNvSpPr/>
          <p:nvPr/>
        </p:nvSpPr>
        <p:spPr>
          <a:xfrm>
            <a:off x="838199" y="5791200"/>
            <a:ext cx="8805673" cy="914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21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B800D-A87E-9526-12CC-CD77A3E45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8447-AFBA-CABB-D64E-F2C937497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Preparatory Analyses for Proteomic/Metabolomic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D65D18-6C2A-98D8-AE81-E03E9FFE95A4}"/>
              </a:ext>
            </a:extLst>
          </p:cNvPr>
          <p:cNvSpPr txBox="1"/>
          <p:nvPr/>
        </p:nvSpPr>
        <p:spPr>
          <a:xfrm>
            <a:off x="838199" y="1690688"/>
            <a:ext cx="806780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 microbiome to proteomic data downstream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Sample size = 188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 microbiome, proteomic, AND metabolomic data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Sample size = 30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Impact of antibiotic treatment vs. gland in sterilized water vs. untreated gland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Keep in mind: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data is on plate 1,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 need to trim adapters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16S and 18S need to be run separately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Lit review to understand how studies connect microbiome + metabolomic data</a:t>
            </a:r>
          </a:p>
        </p:txBody>
      </p:sp>
    </p:spTree>
    <p:extLst>
      <p:ext uri="{BB962C8B-B14F-4D97-AF65-F5344CB8AC3E}">
        <p14:creationId xmlns:p14="http://schemas.microsoft.com/office/powerpoint/2010/main" val="1271489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32224-0160-6960-6971-E207295A4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cell&#10;&#10;AI-generated content may be incorrect.">
            <a:extLst>
              <a:ext uri="{FF2B5EF4-FFF2-40B4-BE49-F238E27FC236}">
                <a16:creationId xmlns:a16="http://schemas.microsoft.com/office/drawing/2014/main" id="{F97D1603-6F0D-8F47-1BA2-F38681B575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59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915ECD-849B-13CF-D238-76AD7550C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0123" y="2265436"/>
            <a:ext cx="3491753" cy="2327127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380454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1328</Words>
  <Application>Microsoft Macintosh PowerPoint</Application>
  <PresentationFormat>Widescreen</PresentationFormat>
  <Paragraphs>196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Office Theme</vt:lpstr>
      <vt:lpstr>Potential Questions and Datasets</vt:lpstr>
      <vt:lpstr>Geographic Location and Temporal</vt:lpstr>
      <vt:lpstr>Geographic Location and Temporal</vt:lpstr>
      <vt:lpstr>Geographic Location and Temporal</vt:lpstr>
      <vt:lpstr>Geographic Location and Temporal</vt:lpstr>
      <vt:lpstr>Geographic Location and Temporal</vt:lpstr>
      <vt:lpstr>Geographic Location and Temporal</vt:lpstr>
      <vt:lpstr>Expanded Tissue/Sample Type</vt:lpstr>
      <vt:lpstr>Expanded Tissue/Sample Type</vt:lpstr>
      <vt:lpstr>Expanded Tissue/Sample Type</vt:lpstr>
      <vt:lpstr>Experimental Datasets</vt:lpstr>
      <vt:lpstr>Experimental Datasets</vt:lpstr>
      <vt:lpstr>Experimental Datasets</vt:lpstr>
      <vt:lpstr>Experimental Datasets</vt:lpstr>
      <vt:lpstr>Experimental Datasets</vt:lpstr>
      <vt:lpstr>Preparatory Analyses for Proteomic/Metabolomic</vt:lpstr>
      <vt:lpstr>Preparatory Analyses for Proteomic/Metabolomic</vt:lpstr>
      <vt:lpstr>Preparatory Analyses for Proteomic/Metabolomic</vt:lpstr>
      <vt:lpstr>Preparatory Analyses for Proteomic/Metabolomic</vt:lpstr>
      <vt:lpstr>Preparatory Analyses for Proteomic/Metabolomic</vt:lpstr>
      <vt:lpstr>Preparatory Analyses for Proteomic/Metabolomic</vt:lpstr>
      <vt:lpstr>Preparatory Analyses for Proteomic/Metabolomic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Sierra Smith</dc:creator>
  <cp:lastModifiedBy>Sierra Smith</cp:lastModifiedBy>
  <cp:revision>54</cp:revision>
  <dcterms:created xsi:type="dcterms:W3CDTF">2026-02-17T17:32:28Z</dcterms:created>
  <dcterms:modified xsi:type="dcterms:W3CDTF">2026-03-18T15:31:45Z</dcterms:modified>
</cp:coreProperties>
</file>