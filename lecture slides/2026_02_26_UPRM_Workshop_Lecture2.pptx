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2.jpg" ContentType="image/png"/>
  <Override PartName="/ppt/notesSlides/notesSlide1.xml" ContentType="application/vnd.openxmlformats-officedocument.presentationml.notesSlide+xml"/>
  <Override PartName="/ppt/media/image15.jpg" ContentType="image/png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2" r:id="rId4"/>
    <p:sldId id="273" r:id="rId5"/>
    <p:sldId id="274" r:id="rId6"/>
    <p:sldId id="258" r:id="rId7"/>
    <p:sldId id="268" r:id="rId8"/>
    <p:sldId id="263" r:id="rId9"/>
    <p:sldId id="271" r:id="rId10"/>
    <p:sldId id="270" r:id="rId11"/>
    <p:sldId id="266" r:id="rId12"/>
    <p:sldId id="267" r:id="rId13"/>
    <p:sldId id="259" r:id="rId14"/>
    <p:sldId id="260" r:id="rId15"/>
    <p:sldId id="264" r:id="rId16"/>
    <p:sldId id="265" r:id="rId17"/>
    <p:sldId id="275" r:id="rId18"/>
    <p:sldId id="276" r:id="rId19"/>
    <p:sldId id="277" r:id="rId20"/>
    <p:sldId id="279" r:id="rId21"/>
    <p:sldId id="278" r:id="rId22"/>
    <p:sldId id="262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00"/>
    <p:restoredTop sz="94420"/>
  </p:normalViewPr>
  <p:slideViewPr>
    <p:cSldViewPr snapToGrid="0">
      <p:cViewPr>
        <p:scale>
          <a:sx n="110" d="100"/>
          <a:sy n="110" d="100"/>
        </p:scale>
        <p:origin x="-32" y="1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6042CB-28A2-754D-ACCB-4F0CF49EE203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3610D6-285C-CD48-A777-0BA559C51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55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60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3610D6-285C-CD48-A777-0BA559C510F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107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2AD5E-4BE2-503A-62CF-12C04B9D7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299DD-5832-02FC-7ABA-71F9B5199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E5A05-9F0C-5130-7071-448DF5BF8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B0531-6360-8F5F-56E7-36B18C878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590E5-CF16-D559-3EEC-AED055BE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66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A314B-7013-FFEE-8977-080A60C11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45A8-2E0A-40A5-292F-4580066E0D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35F94-D3C1-4F22-C9AF-14D3C081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B5602-0C46-EF89-D514-94A9C1730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4BCCB-F201-6F0B-88FF-3E9BDEB14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3AF28-C88D-A870-6F92-CE079C002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70913-9CD3-6ADC-A320-50E1BD03FB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C047F-02BE-6EC7-E2CF-1346C7898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82E54-0672-5FC0-2EAA-14E4C74C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B6663-D60B-D163-2EF1-ED1FC6D3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02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DD00-1E5C-A7CF-F4F3-C9A59A559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6BD92-D32D-391D-B91C-FE38EEB78C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E28E6-95F4-EBC2-4C26-19B48C97C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F6E133-8210-7005-712F-4A2F04A04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21C61-1510-BA38-9186-FDF4E70EA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82DF5-384F-4118-24D1-782A6A27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36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0E4AB-B561-527D-F903-C1F230FC9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137B4-2319-846E-50AF-52882A4A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50FE4-CB4B-D6A8-ACCC-77C612A76A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08612A-5CE9-D4BA-DC09-93DEE35825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C77CF-5744-8B93-5CD0-2317347B65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6AAC24-C4DC-29E0-CAE9-1D7C8D791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81A2FFA-9407-449F-CA8F-50403529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16EC76-FACE-4808-7E3E-3072EDFB6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26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2884-B46C-4B43-5D28-6CC031C4A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E030A4-8F63-BFF3-E907-16352FCBB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329BE-55C7-D7DA-BAEE-A5A5B2F3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EC740-C9CC-BB83-4CD6-5E8F87158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84DEDD-9389-68B5-D9F4-59AFF6180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4D0948-7BFA-DB49-3026-6C24D929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F6551-23EC-0253-BD1A-5ACB013FF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C69C1-7287-EE2E-2708-444A8D68E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A1E32-DA8D-956C-66A9-7EDB2C44F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5186F-A6CE-7AFF-780E-89A2310CA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292813-E0AF-923C-1439-FFF31A14E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A96FD-B1E9-D962-651C-7833BC16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7189B-D9DD-1DB9-3D41-64459BE75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781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35C4-45BA-F323-9B43-5266C4A71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F28D96-575F-B5C0-D669-BF3ADCF78B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7677B-E76E-427D-DE89-C4ECF0ED8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4F8E93-1384-3B93-7BD2-36CAB4F12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F2EEB-14FD-CCBD-6D2A-A24152DC6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143486-E071-3D22-3A30-B9DD4D86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585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0C19-5CC0-4731-FEE7-124BAF8EE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E5F3B8-0744-7C1C-C13E-6BC747F30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4608-A174-2368-BAEC-0AEC32C90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2A1D-2F00-7BA3-37A8-884174ADC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FB07B-44E5-C6EA-64A1-217D3669A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021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288AA4-8957-23B6-06DD-E62B2781B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92CD2-36E1-A8F3-9F9F-2680F3E7C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7C900-0CF5-407A-5DBC-4029D026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49370-0E60-F197-F6E9-F86E55A5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3962C-7D37-77F9-B747-E3C0F560E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27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8756C-2AA5-1DBA-FED6-C53936FB1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FD389-8F95-6BEC-A6B1-5E2E7A0A30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DE221-888B-0B67-110F-2CA1CA4D0F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0296B3-6EEC-114C-BC37-B0B61E99771B}" type="datetimeFigureOut">
              <a:rPr lang="en-US" smtClean="0"/>
              <a:t>2/26/26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85D89-5FDA-53BD-E01B-01A33C474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9E15DE-ACD0-89AD-16C5-61F7D1017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C77818-77F0-C44D-972D-EC269C245A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72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a cell&#10;&#10;AI-generated content may be incorrect.">
            <a:extLst>
              <a:ext uri="{FF2B5EF4-FFF2-40B4-BE49-F238E27FC236}">
                <a16:creationId xmlns:a16="http://schemas.microsoft.com/office/drawing/2014/main" id="{84E5D0E8-8A4D-585E-7B37-57CBF499EF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59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383E5E-A068-E8F8-77FD-CFABAB2C9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29620"/>
            <a:ext cx="9144000" cy="3125546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Lecture:</a:t>
            </a:r>
            <a:b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Taxonomy, alignment, phylogeny,</a:t>
            </a:r>
            <a:b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2EFC89C-9D57-11EC-151E-F99C83C2C364}"/>
              </a:ext>
            </a:extLst>
          </p:cNvPr>
          <p:cNvSpPr txBox="1">
            <a:spLocks/>
          </p:cNvSpPr>
          <p:nvPr/>
        </p:nvSpPr>
        <p:spPr>
          <a:xfrm>
            <a:off x="4020273" y="4355166"/>
            <a:ext cx="4151453" cy="1450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Sierra Smith</a:t>
            </a:r>
          </a:p>
          <a:p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UPRM qiime2 Workshop</a:t>
            </a:r>
          </a:p>
        </p:txBody>
      </p:sp>
    </p:spTree>
    <p:extLst>
      <p:ext uri="{BB962C8B-B14F-4D97-AF65-F5344CB8AC3E}">
        <p14:creationId xmlns:p14="http://schemas.microsoft.com/office/powerpoint/2010/main" val="3902466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D6999-4B7C-405E-A070-6DC3D6C3A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5F2EAF-64AB-BCED-5748-CD36A8FCB21E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Taxonomy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sequence alignment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phylogeny of aligned sequences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6A0C90-7A34-D147-4861-9FC1D80FA02D}"/>
              </a:ext>
            </a:extLst>
          </p:cNvPr>
          <p:cNvSpPr/>
          <p:nvPr/>
        </p:nvSpPr>
        <p:spPr>
          <a:xfrm>
            <a:off x="736600" y="2527300"/>
            <a:ext cx="6819900" cy="2949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8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891FA-808F-5C6B-9209-B012268E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5CB9-5425-1C22-D813-DA6EB2204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FA0DE2-C5BA-1309-990F-600454E65E70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Taxonomy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sequence alignment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phylogeny of aligned sequences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3160AE-E257-D7DB-6C36-6808101A10E1}"/>
              </a:ext>
            </a:extLst>
          </p:cNvPr>
          <p:cNvSpPr/>
          <p:nvPr/>
        </p:nvSpPr>
        <p:spPr>
          <a:xfrm>
            <a:off x="736600" y="3251200"/>
            <a:ext cx="6819900" cy="22251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6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9F021-2A59-A0F1-11E1-E7FA55E8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5E420-DD55-E9A9-EBB6-BCC2138A8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D6D9A0-3762-C952-BE59-F9DBCC026D5C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Taxonomy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sequence alignment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phylogeny of aligned sequences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4BD2F3-1E46-0F1F-CB1C-2325F2A728B9}"/>
              </a:ext>
            </a:extLst>
          </p:cNvPr>
          <p:cNvSpPr/>
          <p:nvPr/>
        </p:nvSpPr>
        <p:spPr>
          <a:xfrm>
            <a:off x="736600" y="4318000"/>
            <a:ext cx="6819900" cy="1158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7484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F0447-32FB-79DD-01FA-88BBD3F8C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96147-51FF-F600-B130-E7D582C0E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BA7B54-05D7-96C1-2881-83E93512CA0E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Taxonomy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Multiple sequence alignment using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Phylogeny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phylogeny of aligned sequences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Diversity Metrics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</p:spTree>
    <p:extLst>
      <p:ext uri="{BB962C8B-B14F-4D97-AF65-F5344CB8AC3E}">
        <p14:creationId xmlns:p14="http://schemas.microsoft.com/office/powerpoint/2010/main" val="583271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59860-D8A9-3A90-537E-5CBA132CD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21E8F-3450-4442-9AB0-A2E21BD63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D98CA9-8FE6-3FC2-9246-B69AEEB3BF29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pic>
        <p:nvPicPr>
          <p:cNvPr id="6" name="Picture 5" descr="A black text with black letters&#10;&#10;AI-generated content may be incorrect.">
            <a:extLst>
              <a:ext uri="{FF2B5EF4-FFF2-40B4-BE49-F238E27FC236}">
                <a16:creationId xmlns:a16="http://schemas.microsoft.com/office/drawing/2014/main" id="{6A4F6D34-91F6-61BB-69DC-69B1C9E62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575" y="4667639"/>
            <a:ext cx="3813251" cy="151091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AB54EE3-6738-CD0C-7E6C-C55C0A7568FC}"/>
              </a:ext>
            </a:extLst>
          </p:cNvPr>
          <p:cNvSpPr/>
          <p:nvPr/>
        </p:nvSpPr>
        <p:spPr>
          <a:xfrm>
            <a:off x="640800" y="2505600"/>
            <a:ext cx="7092000" cy="350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5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D65D3-CF05-031A-4D7A-29CCFADAE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E4E20-A658-4E26-2904-924032C43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8E080-519A-239A-9B72-160001265FFA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3A77645-4DB4-422E-7F8C-3F2372F74A47}"/>
              </a:ext>
            </a:extLst>
          </p:cNvPr>
          <p:cNvSpPr/>
          <p:nvPr/>
        </p:nvSpPr>
        <p:spPr>
          <a:xfrm>
            <a:off x="640800" y="2505600"/>
            <a:ext cx="7092000" cy="350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2CE86E4-1495-9C4B-2432-37EE1E0D6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095" y="2282400"/>
            <a:ext cx="6212705" cy="430194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11D8C8E-2E70-9767-9CAA-6D5877F18B5B}"/>
              </a:ext>
            </a:extLst>
          </p:cNvPr>
          <p:cNvSpPr/>
          <p:nvPr/>
        </p:nvSpPr>
        <p:spPr>
          <a:xfrm>
            <a:off x="6458400" y="5126400"/>
            <a:ext cx="727200" cy="2304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C149-2E60-FC5F-6089-8898A502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29D66-450C-BCE5-CD37-64CC4B47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4153F5A-712A-F968-5853-7B8F93B4E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486" y="1962193"/>
            <a:ext cx="4113951" cy="4758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9EF095-11AC-997A-EC88-E53F93DE2A23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D0DB39-3F34-3372-1BE7-404B53D5E3A6}"/>
              </a:ext>
            </a:extLst>
          </p:cNvPr>
          <p:cNvSpPr/>
          <p:nvPr/>
        </p:nvSpPr>
        <p:spPr>
          <a:xfrm>
            <a:off x="640800" y="2462400"/>
            <a:ext cx="7073502" cy="354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98A3CB-1FC6-401B-AE6A-1194EDB83DCF}"/>
              </a:ext>
            </a:extLst>
          </p:cNvPr>
          <p:cNvSpPr/>
          <p:nvPr/>
        </p:nvSpPr>
        <p:spPr>
          <a:xfrm>
            <a:off x="7911702" y="2714400"/>
            <a:ext cx="2067498" cy="2304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2185F-8C76-1F1B-6F1D-DE0B36300A32}"/>
              </a:ext>
            </a:extLst>
          </p:cNvPr>
          <p:cNvSpPr txBox="1"/>
          <p:nvPr/>
        </p:nvSpPr>
        <p:spPr>
          <a:xfrm>
            <a:off x="8496469" y="1206579"/>
            <a:ext cx="3441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SSU: Small Subunit (16S/18S)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LSU: Large Subunit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E4F1D7-9847-EE78-E3E7-759E18528037}"/>
              </a:ext>
            </a:extLst>
          </p:cNvPr>
          <p:cNvCxnSpPr>
            <a:cxnSpLocks/>
            <a:stCxn id="4" idx="0"/>
            <a:endCxn id="7" idx="2"/>
          </p:cNvCxnSpPr>
          <p:nvPr/>
        </p:nvCxnSpPr>
        <p:spPr>
          <a:xfrm flipV="1">
            <a:off x="8945451" y="1852910"/>
            <a:ext cx="1272002" cy="861490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0008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1F61-9F17-3198-79CE-DF7DF55D3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E7E4D-1960-985E-32B6-9B25FFD297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D01523-E334-1F45-65C9-561908812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486" y="1962193"/>
            <a:ext cx="4113951" cy="4758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85FD58-B41F-F773-9A90-D5EAF1391735}"/>
              </a:ext>
            </a:extLst>
          </p:cNvPr>
          <p:cNvSpPr txBox="1"/>
          <p:nvPr/>
        </p:nvSpPr>
        <p:spPr>
          <a:xfrm>
            <a:off x="838200" y="1690688"/>
            <a:ext cx="69862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Explanation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26F966-0410-AE23-B43F-2A49C809CB6E}"/>
              </a:ext>
            </a:extLst>
          </p:cNvPr>
          <p:cNvSpPr/>
          <p:nvPr/>
        </p:nvSpPr>
        <p:spPr>
          <a:xfrm>
            <a:off x="640800" y="2462400"/>
            <a:ext cx="7073502" cy="354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A11099-5DA7-4590-EEBB-EA8C55356E85}"/>
              </a:ext>
            </a:extLst>
          </p:cNvPr>
          <p:cNvSpPr/>
          <p:nvPr/>
        </p:nvSpPr>
        <p:spPr>
          <a:xfrm>
            <a:off x="7911702" y="2714400"/>
            <a:ext cx="2067498" cy="2304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951A2-7382-E937-00F1-DD346DA6932F}"/>
              </a:ext>
            </a:extLst>
          </p:cNvPr>
          <p:cNvSpPr txBox="1"/>
          <p:nvPr/>
        </p:nvSpPr>
        <p:spPr>
          <a:xfrm>
            <a:off x="8998866" y="1321356"/>
            <a:ext cx="14670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Region (V4)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Primer Pair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E6EA603-A8FA-4B26-CAB8-EE576C30E86D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9307033" y="1967687"/>
            <a:ext cx="425367" cy="746713"/>
          </a:xfrm>
          <a:prstGeom prst="lin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3507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706BA-5B4F-F325-0E89-FA5CEBC8B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82F2-6A76-DC68-34E4-6797E91D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AFCCB5-B2F5-BA7A-1E47-3EA941D03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4486" y="1962193"/>
            <a:ext cx="4113951" cy="47580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03C677-B3FB-2630-FAA5-80BD1490D1F7}"/>
              </a:ext>
            </a:extLst>
          </p:cNvPr>
          <p:cNvSpPr txBox="1"/>
          <p:nvPr/>
        </p:nvSpPr>
        <p:spPr>
          <a:xfrm>
            <a:off x="838200" y="1690688"/>
            <a:ext cx="6986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environment-specific taxonomic abundance information to improve species-level classification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7EACF-FA28-1413-4AB6-AB13622A0D43}"/>
              </a:ext>
            </a:extLst>
          </p:cNvPr>
          <p:cNvSpPr/>
          <p:nvPr/>
        </p:nvSpPr>
        <p:spPr>
          <a:xfrm>
            <a:off x="663768" y="3952845"/>
            <a:ext cx="7073502" cy="2765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C9276F-6694-D50D-8845-21E8E490788E}"/>
              </a:ext>
            </a:extLst>
          </p:cNvPr>
          <p:cNvSpPr/>
          <p:nvPr/>
        </p:nvSpPr>
        <p:spPr>
          <a:xfrm>
            <a:off x="7911702" y="2714400"/>
            <a:ext cx="2067498" cy="2304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shot of a web page&#10;&#10;AI-generated content may be incorrect.">
            <a:extLst>
              <a:ext uri="{FF2B5EF4-FFF2-40B4-BE49-F238E27FC236}">
                <a16:creationId xmlns:a16="http://schemas.microsoft.com/office/drawing/2014/main" id="{E1432239-08A5-4C7B-CAA0-FAE70F0CE5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679" y="4313310"/>
            <a:ext cx="5083092" cy="198675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C111633-9916-F31E-A133-01D38D8EA316}"/>
              </a:ext>
            </a:extLst>
          </p:cNvPr>
          <p:cNvCxnSpPr>
            <a:cxnSpLocks/>
          </p:cNvCxnSpPr>
          <p:nvPr/>
        </p:nvCxnSpPr>
        <p:spPr>
          <a:xfrm flipH="1">
            <a:off x="9751861" y="2411366"/>
            <a:ext cx="86400" cy="27360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4688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B8574-1329-34F5-552C-20DFBCBB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54BD-18FC-C9D0-F652-5F14805E3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660A2E-A9F3-A704-67CC-E4E405BF53A3}"/>
              </a:ext>
            </a:extLst>
          </p:cNvPr>
          <p:cNvSpPr txBox="1"/>
          <p:nvPr/>
        </p:nvSpPr>
        <p:spPr>
          <a:xfrm>
            <a:off x="838200" y="1690688"/>
            <a:ext cx="6986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qza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reference database directly from Silva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Includes environment-specific taxonomic abundance information to improve species-level classification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Uniform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1257300" lvl="2" indent="-342900">
              <a:buFont typeface="Wingdings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A4F8BE-47F6-802A-D5F0-EA668568946C}"/>
              </a:ext>
            </a:extLst>
          </p:cNvPr>
          <p:cNvSpPr/>
          <p:nvPr/>
        </p:nvSpPr>
        <p:spPr>
          <a:xfrm>
            <a:off x="640800" y="4266741"/>
            <a:ext cx="7293600" cy="24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B7E794-A738-249A-A109-5DC03AF27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625" y="3562053"/>
            <a:ext cx="6299885" cy="321051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181B88-8B17-2F69-E5A5-6AC13C235525}"/>
              </a:ext>
            </a:extLst>
          </p:cNvPr>
          <p:cNvSpPr/>
          <p:nvPr/>
        </p:nvSpPr>
        <p:spPr>
          <a:xfrm>
            <a:off x="5963823" y="6014471"/>
            <a:ext cx="2548800" cy="23040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CD6F0F8-CDD4-BBDC-94C5-200294B5E9A5}"/>
              </a:ext>
            </a:extLst>
          </p:cNvPr>
          <p:cNvCxnSpPr>
            <a:cxnSpLocks/>
          </p:cNvCxnSpPr>
          <p:nvPr/>
        </p:nvCxnSpPr>
        <p:spPr>
          <a:xfrm flipH="1">
            <a:off x="7946580" y="4208699"/>
            <a:ext cx="86400" cy="273600"/>
          </a:xfrm>
          <a:prstGeom prst="straightConnector1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4473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D5AC1-0561-071B-B7E9-C0A329DB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72901-0316-4644-F350-007CA7D1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Taxonomic annotation of ASVs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336A5-D6A5-EC34-5891-50677800C012}"/>
              </a:ext>
            </a:extLst>
          </p:cNvPr>
          <p:cNvSpPr txBox="1"/>
          <p:nvPr/>
        </p:nvSpPr>
        <p:spPr>
          <a:xfrm>
            <a:off x="838200" y="1690688"/>
            <a:ext cx="69862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Based on % sequence similarity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Field standard is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at least 97%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sequence similarity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Other database options include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Greengenes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GTDB on qiime2 data-resources page</a:t>
            </a:r>
          </a:p>
        </p:txBody>
      </p:sp>
    </p:spTree>
    <p:extLst>
      <p:ext uri="{BB962C8B-B14F-4D97-AF65-F5344CB8AC3E}">
        <p14:creationId xmlns:p14="http://schemas.microsoft.com/office/powerpoint/2010/main" val="716285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F559B-B108-8F60-BA25-38EA73DC1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81658-00D3-6278-DE49-A9BA9F528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Sequence alignment and masking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347D63-4672-6705-883E-A336A47F786A}"/>
              </a:ext>
            </a:extLst>
          </p:cNvPr>
          <p:cNvSpPr txBox="1"/>
          <p:nvPr/>
        </p:nvSpPr>
        <p:spPr>
          <a:xfrm>
            <a:off x="838200" y="1690688"/>
            <a:ext cx="698628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Identify regions of homology between sequences to predict evolutionary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mafft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multiple sequence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Mask (or filter) alignment to remove highly variable positions</a:t>
            </a:r>
          </a:p>
          <a:p>
            <a:pPr marL="914400" lvl="1" indent="-457200">
              <a:buFont typeface="+mj-lt"/>
              <a:buAutoNum type="arabicPeriod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person holding a pen and a chart&#10;&#10;AI-generated content may be incorrect.">
            <a:extLst>
              <a:ext uri="{FF2B5EF4-FFF2-40B4-BE49-F238E27FC236}">
                <a16:creationId xmlns:a16="http://schemas.microsoft.com/office/drawing/2014/main" id="{DA21214A-2B86-64D3-A63A-5F847B4B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496" y="4057650"/>
            <a:ext cx="6023979" cy="24352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7C068B-388F-25A0-15BB-93E11B2846CC}"/>
              </a:ext>
            </a:extLst>
          </p:cNvPr>
          <p:cNvSpPr txBox="1"/>
          <p:nvPr/>
        </p:nvSpPr>
        <p:spPr>
          <a:xfrm>
            <a:off x="8720729" y="6500038"/>
            <a:ext cx="3471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mafft.cbrc.jp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/alignment/server/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merge.html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A grey letters on a black background&#10;&#10;AI-generated content may be incorrect.">
            <a:extLst>
              <a:ext uri="{FF2B5EF4-FFF2-40B4-BE49-F238E27FC236}">
                <a16:creationId xmlns:a16="http://schemas.microsoft.com/office/drawing/2014/main" id="{7B5E0DEC-072D-BBC7-6EAA-611457B020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2776" y="2786061"/>
            <a:ext cx="3431716" cy="85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84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BEA0-7830-D18D-7C01-893E3412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2A9B9-55EC-EE0B-A930-9607709A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32BD76-5260-91F0-AB27-94B896911C22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longest tip-to-tip distance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EA6322-56AB-8782-890D-3F78FD9BC5A0}"/>
              </a:ext>
            </a:extLst>
          </p:cNvPr>
          <p:cNvSpPr/>
          <p:nvPr/>
        </p:nvSpPr>
        <p:spPr>
          <a:xfrm>
            <a:off x="838200" y="3986213"/>
            <a:ext cx="6986286" cy="25981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25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CD18-4558-7EA3-8139-8350794BB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3F067-49DE-3DAF-5091-40537DE1B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B774D-FD05-1547-305B-A8DEBEF992EC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longest tip-to-tip distance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73EAD9-BE1B-23DF-21E5-82EA4EEF98C3}"/>
              </a:ext>
            </a:extLst>
          </p:cNvPr>
          <p:cNvSpPr txBox="1"/>
          <p:nvPr/>
        </p:nvSpPr>
        <p:spPr>
          <a:xfrm flipH="1">
            <a:off x="10555128" y="6492875"/>
            <a:ext cx="159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Dr Richard Edwards</a:t>
            </a: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35CCF397-A02C-05FD-A4D1-B7A211F94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67" y="2319337"/>
            <a:ext cx="4678816" cy="28479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9B2B4F0-3096-5402-80CF-FF821D845D17}"/>
              </a:ext>
            </a:extLst>
          </p:cNvPr>
          <p:cNvSpPr/>
          <p:nvPr/>
        </p:nvSpPr>
        <p:spPr>
          <a:xfrm>
            <a:off x="838200" y="5795961"/>
            <a:ext cx="6986286" cy="7883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23B86EB-4887-7F18-28A0-EDA047CB1819}"/>
              </a:ext>
            </a:extLst>
          </p:cNvPr>
          <p:cNvGrpSpPr/>
          <p:nvPr/>
        </p:nvGrpSpPr>
        <p:grpSpPr>
          <a:xfrm>
            <a:off x="9192507" y="2001349"/>
            <a:ext cx="2831375" cy="3313600"/>
            <a:chOff x="9192507" y="2001349"/>
            <a:chExt cx="2831375" cy="33136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AB90CEF-6622-6829-8584-3C5F8851D02C}"/>
                </a:ext>
              </a:extLst>
            </p:cNvPr>
            <p:cNvSpPr/>
            <p:nvPr/>
          </p:nvSpPr>
          <p:spPr>
            <a:xfrm>
              <a:off x="9772649" y="2227876"/>
              <a:ext cx="2251233" cy="30870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AF75632-F8C6-F849-21FB-6A3A3224C2F4}"/>
                </a:ext>
              </a:extLst>
            </p:cNvPr>
            <p:cNvSpPr/>
            <p:nvPr/>
          </p:nvSpPr>
          <p:spPr>
            <a:xfrm>
              <a:off x="9192507" y="2001349"/>
              <a:ext cx="1160282" cy="635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9FEF71E-A164-DC65-298C-A35C93730B63}"/>
                </a:ext>
              </a:extLst>
            </p:cNvPr>
            <p:cNvSpPr/>
            <p:nvPr/>
          </p:nvSpPr>
          <p:spPr>
            <a:xfrm>
              <a:off x="9287307" y="3584330"/>
              <a:ext cx="1160282" cy="635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75474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4DC23-7550-825B-0CED-55B7B211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E3731-D051-96DA-5A30-D6A29F017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Constructing phylogeny of microbial sequences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23AE63-42EE-E1F4-F553-EC9631E9A64C}"/>
              </a:ext>
            </a:extLst>
          </p:cNvPr>
          <p:cNvSpPr txBox="1"/>
          <p:nvPr/>
        </p:nvSpPr>
        <p:spPr>
          <a:xfrm>
            <a:off x="838200" y="1690688"/>
            <a:ext cx="698628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Purpose: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Use phylogenetic diversity metrics such as: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 (Alpha)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Unifrac (Beta)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</a:p>
          <a:p>
            <a:pPr marL="1828800" lvl="3" indent="-4572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Process: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Uses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FastTree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create a phylogenetic tree from masked alignment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Creates an unrooted tree of microbial sequences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Root the tree to the midpoint of the </a:t>
            </a:r>
            <a:r>
              <a:rPr lang="en-US" sz="2400" dirty="0">
                <a:solidFill>
                  <a:schemeClr val="accent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longest tip-to-tip distance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BF6FD-1D24-C9D5-3729-08A3E8CA36BC}"/>
              </a:ext>
            </a:extLst>
          </p:cNvPr>
          <p:cNvSpPr txBox="1"/>
          <p:nvPr/>
        </p:nvSpPr>
        <p:spPr>
          <a:xfrm flipH="1">
            <a:off x="10555128" y="6492875"/>
            <a:ext cx="1597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Dr Richard Edwards</a:t>
            </a:r>
          </a:p>
        </p:txBody>
      </p:sp>
      <p:pic>
        <p:nvPicPr>
          <p:cNvPr id="6" name="Picture 5" descr="A diagram of a tree&#10;&#10;AI-generated content may be incorrect.">
            <a:extLst>
              <a:ext uri="{FF2B5EF4-FFF2-40B4-BE49-F238E27FC236}">
                <a16:creationId xmlns:a16="http://schemas.microsoft.com/office/drawing/2014/main" id="{5656FD6F-C113-7C9C-60F9-87A822275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067" y="2319337"/>
            <a:ext cx="4678816" cy="2847975"/>
          </a:xfrm>
          <a:prstGeom prst="rect">
            <a:avLst/>
          </a:prstGeom>
        </p:spPr>
      </p:pic>
      <p:sp>
        <p:nvSpPr>
          <p:cNvPr id="14" name="Left Bracket 13">
            <a:extLst>
              <a:ext uri="{FF2B5EF4-FFF2-40B4-BE49-F238E27FC236}">
                <a16:creationId xmlns:a16="http://schemas.microsoft.com/office/drawing/2014/main" id="{417CBE21-D029-C507-3E98-046221040C78}"/>
              </a:ext>
            </a:extLst>
          </p:cNvPr>
          <p:cNvSpPr/>
          <p:nvPr/>
        </p:nvSpPr>
        <p:spPr>
          <a:xfrm rot="10800000">
            <a:off x="8445500" y="3479800"/>
            <a:ext cx="152400" cy="1117600"/>
          </a:xfrm>
          <a:prstGeom prst="leftBracket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AC72866-584A-F5AE-BDFC-CAC9D233FCC0}"/>
              </a:ext>
            </a:extLst>
          </p:cNvPr>
          <p:cNvCxnSpPr>
            <a:cxnSpLocks/>
          </p:cNvCxnSpPr>
          <p:nvPr/>
        </p:nvCxnSpPr>
        <p:spPr>
          <a:xfrm>
            <a:off x="9516256" y="4137511"/>
            <a:ext cx="336438" cy="307489"/>
          </a:xfrm>
          <a:prstGeom prst="straightConnector1">
            <a:avLst/>
          </a:prstGeom>
          <a:ln w="28575"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448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2D3F0-96BE-438F-C410-39C106C3D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19E9-3607-9BCB-194E-7F0E267CC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FC37F2-B820-D93C-B674-C749F896E3F8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of unique taxa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C01402-6E01-B140-6E2D-70C7F0F40EEE}"/>
              </a:ext>
            </a:extLst>
          </p:cNvPr>
          <p:cNvSpPr/>
          <p:nvPr/>
        </p:nvSpPr>
        <p:spPr>
          <a:xfrm>
            <a:off x="838200" y="3211033"/>
            <a:ext cx="7157484" cy="2838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E2CB5-3BA0-F17B-C81E-B17709C41FA3}"/>
              </a:ext>
            </a:extLst>
          </p:cNvPr>
          <p:cNvSpPr txBox="1"/>
          <p:nvPr/>
        </p:nvSpPr>
        <p:spPr>
          <a:xfrm flipH="1">
            <a:off x="9897761" y="6581001"/>
            <a:ext cx="2192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https://old-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ib.bioninja.com.au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pic>
        <p:nvPicPr>
          <p:cNvPr id="6" name="Picture 5" descr="A diagram of trees and a diagram of trees&#10;&#10;AI-generated content may be incorrect.">
            <a:extLst>
              <a:ext uri="{FF2B5EF4-FFF2-40B4-BE49-F238E27FC236}">
                <a16:creationId xmlns:a16="http://schemas.microsoft.com/office/drawing/2014/main" id="{58EC5635-5ECE-F544-0B25-0530CA6F1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838" y="3336855"/>
            <a:ext cx="6900848" cy="3156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730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4BD62-7980-C046-5167-7038618D6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0B4A1-1530-23D3-4539-92E66C568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A8BB5-7C0E-C28E-2A24-9CE2C8FF6472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429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32A0F8-6147-C223-2585-7613ED8AFCED}"/>
              </a:ext>
            </a:extLst>
          </p:cNvPr>
          <p:cNvSpPr/>
          <p:nvPr/>
        </p:nvSpPr>
        <p:spPr>
          <a:xfrm>
            <a:off x="838200" y="3944679"/>
            <a:ext cx="7157484" cy="21052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135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4A287-392F-A9CB-C366-24C7D5ED5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3E5FF-13C7-4F75-F8FD-5FEB8EF21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C21F7E-A543-11A3-5E13-B1AC809BA7CC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2BE984-A2F2-9B22-D3B0-DC91A121C7F8}"/>
              </a:ext>
            </a:extLst>
          </p:cNvPr>
          <p:cNvSpPr/>
          <p:nvPr/>
        </p:nvSpPr>
        <p:spPr>
          <a:xfrm>
            <a:off x="838200" y="5039833"/>
            <a:ext cx="7157484" cy="101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4308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D60B4-5435-2511-BF0B-7493A7CF5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2202-3A49-2E3C-B78F-AA24538A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8844A3-9CFB-F967-82E0-D7C8106E5750}"/>
              </a:ext>
            </a:extLst>
          </p:cNvPr>
          <p:cNvSpPr txBox="1"/>
          <p:nvPr/>
        </p:nvSpPr>
        <p:spPr>
          <a:xfrm>
            <a:off x="838200" y="1690688"/>
            <a:ext cx="698628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individuals among species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93C498-CDD6-FBD8-7D19-D6867B6003FD}"/>
              </a:ext>
            </a:extLst>
          </p:cNvPr>
          <p:cNvSpPr/>
          <p:nvPr/>
        </p:nvSpPr>
        <p:spPr>
          <a:xfrm>
            <a:off x="838200" y="5039833"/>
            <a:ext cx="7157484" cy="1010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7C214A-1383-8063-861E-D52737BB0BFC}"/>
              </a:ext>
            </a:extLst>
          </p:cNvPr>
          <p:cNvSpPr txBox="1"/>
          <p:nvPr/>
        </p:nvSpPr>
        <p:spPr>
          <a:xfrm>
            <a:off x="0" y="6581001"/>
            <a:ext cx="26757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sebpardo.github.io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ebirdtrees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pic>
        <p:nvPicPr>
          <p:cNvPr id="9" name="Picture 8" descr="A graph with red lines&#10;&#10;AI-generated content may be incorrect.">
            <a:extLst>
              <a:ext uri="{FF2B5EF4-FFF2-40B4-BE49-F238E27FC236}">
                <a16:creationId xmlns:a16="http://schemas.microsoft.com/office/drawing/2014/main" id="{07ABCF14-DA84-BDFE-EEFF-E3205ED42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9640" y="2176540"/>
            <a:ext cx="3434080" cy="2377440"/>
          </a:xfrm>
          <a:prstGeom prst="rect">
            <a:avLst/>
          </a:prstGeom>
        </p:spPr>
      </p:pic>
      <p:pic>
        <p:nvPicPr>
          <p:cNvPr id="11" name="Picture 10" descr="A diagram with red lines and numbers&#10;&#10;AI-generated content may be incorrect.">
            <a:extLst>
              <a:ext uri="{FF2B5EF4-FFF2-40B4-BE49-F238E27FC236}">
                <a16:creationId xmlns:a16="http://schemas.microsoft.com/office/drawing/2014/main" id="{66C7A202-99A3-32FC-FB03-B333690E3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9640" y="4480560"/>
            <a:ext cx="3434080" cy="2377440"/>
          </a:xfrm>
          <a:prstGeom prst="rect">
            <a:avLst/>
          </a:prstGeom>
        </p:spPr>
      </p:pic>
      <p:pic>
        <p:nvPicPr>
          <p:cNvPr id="6" name="Picture 5" descr="A graph with red lines and numbers&#10;&#10;AI-generated content may be incorrect.">
            <a:extLst>
              <a:ext uri="{FF2B5EF4-FFF2-40B4-BE49-F238E27FC236}">
                <a16:creationId xmlns:a16="http://schemas.microsoft.com/office/drawing/2014/main" id="{B84CFA45-4EE7-DFB4-3FA2-71C0AEAE17E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633"/>
          <a:stretch>
            <a:fillRect/>
          </a:stretch>
        </p:blipFill>
        <p:spPr>
          <a:xfrm>
            <a:off x="8169640" y="0"/>
            <a:ext cx="3434080" cy="23148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6ED97A-927E-BE08-A9E0-08C1ED570450}"/>
              </a:ext>
            </a:extLst>
          </p:cNvPr>
          <p:cNvSpPr txBox="1"/>
          <p:nvPr/>
        </p:nvSpPr>
        <p:spPr>
          <a:xfrm>
            <a:off x="6836392" y="972751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1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051EEBC-0D24-3DAA-0D14-F342FD52961B}"/>
              </a:ext>
            </a:extLst>
          </p:cNvPr>
          <p:cNvSpPr/>
          <p:nvPr/>
        </p:nvSpPr>
        <p:spPr>
          <a:xfrm>
            <a:off x="7995684" y="198622"/>
            <a:ext cx="240713" cy="1917590"/>
          </a:xfrm>
          <a:prstGeom prst="leftBrac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97BC20-E8A6-845B-2330-E07A103AD06F}"/>
              </a:ext>
            </a:extLst>
          </p:cNvPr>
          <p:cNvSpPr txBox="1"/>
          <p:nvPr/>
        </p:nvSpPr>
        <p:spPr>
          <a:xfrm>
            <a:off x="6836392" y="3297079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2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3C061EA8-E4CD-3D59-A647-E27A361907F5}"/>
              </a:ext>
            </a:extLst>
          </p:cNvPr>
          <p:cNvSpPr/>
          <p:nvPr/>
        </p:nvSpPr>
        <p:spPr>
          <a:xfrm>
            <a:off x="7995684" y="2522950"/>
            <a:ext cx="240713" cy="1917590"/>
          </a:xfrm>
          <a:prstGeom prst="leftBrace">
            <a:avLst/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40EF19-839B-2344-FF01-2D7F904DB518}"/>
              </a:ext>
            </a:extLst>
          </p:cNvPr>
          <p:cNvSpPr txBox="1"/>
          <p:nvPr/>
        </p:nvSpPr>
        <p:spPr>
          <a:xfrm>
            <a:off x="6836392" y="5516360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3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FDDF8679-92BA-5125-4D4B-78469D0000C3}"/>
              </a:ext>
            </a:extLst>
          </p:cNvPr>
          <p:cNvSpPr/>
          <p:nvPr/>
        </p:nvSpPr>
        <p:spPr>
          <a:xfrm>
            <a:off x="7995684" y="4742231"/>
            <a:ext cx="240713" cy="1917590"/>
          </a:xfrm>
          <a:prstGeom prst="leftBrac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7B8831-17E5-4A70-0E08-DA79DF95BDE3}"/>
              </a:ext>
            </a:extLst>
          </p:cNvPr>
          <p:cNvSpPr txBox="1"/>
          <p:nvPr/>
        </p:nvSpPr>
        <p:spPr>
          <a:xfrm>
            <a:off x="4416942" y="5103673"/>
            <a:ext cx="2200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PD = Sum of branch lengths between taxa in a sample</a:t>
            </a:r>
          </a:p>
        </p:txBody>
      </p:sp>
    </p:spTree>
    <p:extLst>
      <p:ext uri="{BB962C8B-B14F-4D97-AF65-F5344CB8AC3E}">
        <p14:creationId xmlns:p14="http://schemas.microsoft.com/office/powerpoint/2010/main" val="1181277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FA7DD-0011-59C4-3777-C7C4870EE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40764-FB9D-7365-236E-CDB18628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Alpha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D5302-E9D5-B25D-1421-6ED9CE540512}"/>
              </a:ext>
            </a:extLst>
          </p:cNvPr>
          <p:cNvSpPr txBox="1"/>
          <p:nvPr/>
        </p:nvSpPr>
        <p:spPr>
          <a:xfrm>
            <a:off x="838200" y="1690688"/>
            <a:ext cx="69862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Shannon’s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features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Distribution of counts among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Observed ASVs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Counts of unique features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Faith’s Phylogenetic Diversity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richness + phylogenetic relationships between features</a:t>
            </a:r>
          </a:p>
          <a:p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Pielou’s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Evenness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evenness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Distribution of counts among different features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66173D-22B5-275A-76BE-BCE632322818}"/>
              </a:ext>
            </a:extLst>
          </p:cNvPr>
          <p:cNvSpPr txBox="1"/>
          <p:nvPr/>
        </p:nvSpPr>
        <p:spPr>
          <a:xfrm flipH="1">
            <a:off x="9452919" y="6581001"/>
            <a:ext cx="2637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LaFevor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and Pitts (2022) Agriculture</a:t>
            </a:r>
          </a:p>
        </p:txBody>
      </p:sp>
      <p:pic>
        <p:nvPicPr>
          <p:cNvPr id="8" name="Picture 7" descr="A diagram of a circle with colorful dots&#10;&#10;AI-generated content may be incorrect.">
            <a:extLst>
              <a:ext uri="{FF2B5EF4-FFF2-40B4-BE49-F238E27FC236}">
                <a16:creationId xmlns:a16="http://schemas.microsoft.com/office/drawing/2014/main" id="{6E23184C-CFB8-2772-D112-531E544B4B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550"/>
          <a:stretch>
            <a:fillRect/>
          </a:stretch>
        </p:blipFill>
        <p:spPr>
          <a:xfrm>
            <a:off x="7824486" y="4312508"/>
            <a:ext cx="3198668" cy="1902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158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264B7-34A9-8C73-53DE-255D0CEE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170FE-73C7-2257-24AD-DF7B3A18B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1A003B-A456-B674-8A1A-0B20D527477A}"/>
              </a:ext>
            </a:extLst>
          </p:cNvPr>
          <p:cNvSpPr txBox="1"/>
          <p:nvPr/>
        </p:nvSpPr>
        <p:spPr>
          <a:xfrm flipH="1">
            <a:off x="9893643" y="6581001"/>
            <a:ext cx="22983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www.geeksforgeeks.org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EC043F-0644-CD64-BC1C-5BFB43B4CA4F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B89969-2463-91BC-E1A1-128D7E2EF4EA}"/>
              </a:ext>
            </a:extLst>
          </p:cNvPr>
          <p:cNvSpPr/>
          <p:nvPr/>
        </p:nvSpPr>
        <p:spPr>
          <a:xfrm>
            <a:off x="838200" y="2519917"/>
            <a:ext cx="7157484" cy="3530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C19DD8-374E-FE61-FAA1-3115C3B07BFB}"/>
              </a:ext>
            </a:extLst>
          </p:cNvPr>
          <p:cNvGrpSpPr/>
          <p:nvPr/>
        </p:nvGrpSpPr>
        <p:grpSpPr>
          <a:xfrm>
            <a:off x="6097724" y="2730843"/>
            <a:ext cx="5841050" cy="3762032"/>
            <a:chOff x="6097724" y="2730843"/>
            <a:chExt cx="5841050" cy="3762032"/>
          </a:xfrm>
        </p:grpSpPr>
        <p:pic>
          <p:nvPicPr>
            <p:cNvPr id="6" name="Picture 5" descr="A diagram of different shapes and colors&#10;&#10;AI-generated content may be incorrect.">
              <a:extLst>
                <a:ext uri="{FF2B5EF4-FFF2-40B4-BE49-F238E27FC236}">
                  <a16:creationId xmlns:a16="http://schemas.microsoft.com/office/drawing/2014/main" id="{D6B6ECF7-293F-B9AD-7139-5A80D127B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7724" y="2730843"/>
              <a:ext cx="5841050" cy="3762032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798A1C6-D46D-AAED-AA40-9DD6519BFCE0}"/>
                </a:ext>
              </a:extLst>
            </p:cNvPr>
            <p:cNvSpPr/>
            <p:nvPr/>
          </p:nvSpPr>
          <p:spPr>
            <a:xfrm>
              <a:off x="6240162" y="4423719"/>
              <a:ext cx="5698612" cy="518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5616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7FF94-D8E1-49E6-F438-9A9AD0969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E625-64B8-AAC2-B87E-3CAA1459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307A13-3D5B-89DA-4C26-0D31B9BF7A43}"/>
              </a:ext>
            </a:extLst>
          </p:cNvPr>
          <p:cNvSpPr txBox="1"/>
          <p:nvPr/>
        </p:nvSpPr>
        <p:spPr>
          <a:xfrm flipH="1">
            <a:off x="11112843" y="6581001"/>
            <a:ext cx="10791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Zach Bobbitt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674CB6-744E-9595-7296-88D32E19870C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06DE60-B3CA-FF6F-1CDA-951F75113C23}"/>
              </a:ext>
            </a:extLst>
          </p:cNvPr>
          <p:cNvSpPr/>
          <p:nvPr/>
        </p:nvSpPr>
        <p:spPr>
          <a:xfrm>
            <a:off x="838200" y="3955311"/>
            <a:ext cx="7157484" cy="20946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789192C-E0D0-C3CF-2704-7682A1820C4D}"/>
              </a:ext>
            </a:extLst>
          </p:cNvPr>
          <p:cNvGrpSpPr/>
          <p:nvPr/>
        </p:nvGrpSpPr>
        <p:grpSpPr>
          <a:xfrm>
            <a:off x="5356055" y="3935579"/>
            <a:ext cx="6296366" cy="2515077"/>
            <a:chOff x="5356055" y="3745079"/>
            <a:chExt cx="6296366" cy="2515077"/>
          </a:xfrm>
        </p:grpSpPr>
        <p:pic>
          <p:nvPicPr>
            <p:cNvPr id="6" name="Picture 5" descr="A white background with black letters and numbers&#10;&#10;AI-generated content may be incorrect.">
              <a:extLst>
                <a:ext uri="{FF2B5EF4-FFF2-40B4-BE49-F238E27FC236}">
                  <a16:creationId xmlns:a16="http://schemas.microsoft.com/office/drawing/2014/main" id="{9CFE5D91-8DF4-CD3D-49F7-9C6859702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6055" y="3745079"/>
              <a:ext cx="6296366" cy="2515077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C128A95-D085-340F-791A-1226B62B3532}"/>
                </a:ext>
              </a:extLst>
            </p:cNvPr>
            <p:cNvSpPr txBox="1"/>
            <p:nvPr/>
          </p:nvSpPr>
          <p:spPr>
            <a:xfrm>
              <a:off x="9108648" y="4183977"/>
              <a:ext cx="55656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BC</a:t>
              </a:r>
            </a:p>
            <a:p>
              <a:pPr algn="ctr"/>
              <a:r>
                <a:rPr lang="en-US" sz="2800" b="1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51884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5678-AC68-6E27-DEBE-BB9396274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C06A-9B97-69D1-DE10-81F1CFF80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1B190D-165E-8897-CFB1-8D54DD3BE667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F09E09-DA09-5064-6653-39CBA29B1761}"/>
              </a:ext>
            </a:extLst>
          </p:cNvPr>
          <p:cNvSpPr/>
          <p:nvPr/>
        </p:nvSpPr>
        <p:spPr>
          <a:xfrm>
            <a:off x="838200" y="4659044"/>
            <a:ext cx="6743700" cy="13255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89835D2-3B41-93D8-DA40-B217E19520E3}"/>
              </a:ext>
            </a:extLst>
          </p:cNvPr>
          <p:cNvGrpSpPr/>
          <p:nvPr/>
        </p:nvGrpSpPr>
        <p:grpSpPr>
          <a:xfrm>
            <a:off x="6568752" y="2566074"/>
            <a:ext cx="5372878" cy="4185939"/>
            <a:chOff x="6568752" y="2566074"/>
            <a:chExt cx="5372878" cy="4185939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A4904ED-55D8-3F79-9C3D-1C6ED029E57F}"/>
                </a:ext>
              </a:extLst>
            </p:cNvPr>
            <p:cNvGrpSpPr/>
            <p:nvPr/>
          </p:nvGrpSpPr>
          <p:grpSpPr>
            <a:xfrm>
              <a:off x="6568752" y="2566074"/>
              <a:ext cx="5372878" cy="4185939"/>
              <a:chOff x="6568752" y="2566074"/>
              <a:chExt cx="5372878" cy="4185939"/>
            </a:xfrm>
          </p:grpSpPr>
          <p:pic>
            <p:nvPicPr>
              <p:cNvPr id="5" name="Picture 4" descr="A diagram of different colors&#10;&#10;AI-generated content may be incorrect.">
                <a:extLst>
                  <a:ext uri="{FF2B5EF4-FFF2-40B4-BE49-F238E27FC236}">
                    <a16:creationId xmlns:a16="http://schemas.microsoft.com/office/drawing/2014/main" id="{BD5FAAA9-E9A5-C58A-857F-4AD4F62CBB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3684" r="4925"/>
              <a:stretch>
                <a:fillRect/>
              </a:stretch>
            </p:blipFill>
            <p:spPr>
              <a:xfrm>
                <a:off x="6568752" y="2566074"/>
                <a:ext cx="5372878" cy="4185939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4529623-3593-1CEE-E0EF-2F68383F3987}"/>
                  </a:ext>
                </a:extLst>
              </p:cNvPr>
              <p:cNvSpPr/>
              <p:nvPr/>
            </p:nvSpPr>
            <p:spPr>
              <a:xfrm>
                <a:off x="8528180" y="4086808"/>
                <a:ext cx="3271934" cy="40011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2DBA78-9753-EF55-A538-CA8599597F7A}"/>
                  </a:ext>
                </a:extLst>
              </p:cNvPr>
              <p:cNvSpPr txBox="1"/>
              <p:nvPr/>
            </p:nvSpPr>
            <p:spPr>
              <a:xfrm>
                <a:off x="8451138" y="4086808"/>
                <a:ext cx="111921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Red vs. Yellow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0714520-14D6-3CF2-D35E-732B916FC464}"/>
                  </a:ext>
                </a:extLst>
              </p:cNvPr>
              <p:cNvSpPr txBox="1"/>
              <p:nvPr/>
            </p:nvSpPr>
            <p:spPr>
              <a:xfrm>
                <a:off x="9659842" y="4086808"/>
                <a:ext cx="984565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Red vs. Blue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46FC7A-049A-05E8-F343-1F24B0C88668}"/>
                  </a:ext>
                </a:extLst>
              </p:cNvPr>
              <p:cNvSpPr txBox="1"/>
              <p:nvPr/>
            </p:nvSpPr>
            <p:spPr>
              <a:xfrm>
                <a:off x="10733894" y="4086808"/>
                <a:ext cx="1143262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Yellow vs. Blue</a:t>
                </a: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22E9B61-E55C-7BCC-A9FC-CF958C362A76}"/>
                </a:ext>
              </a:extLst>
            </p:cNvPr>
            <p:cNvSpPr txBox="1"/>
            <p:nvPr/>
          </p:nvSpPr>
          <p:spPr>
            <a:xfrm>
              <a:off x="8212429" y="6113146"/>
              <a:ext cx="1156087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Distance Matrix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42A37B-842D-6945-A86B-AFB41456ABD2}"/>
                </a:ext>
              </a:extLst>
            </p:cNvPr>
            <p:cNvSpPr txBox="1"/>
            <p:nvPr/>
          </p:nvSpPr>
          <p:spPr>
            <a:xfrm>
              <a:off x="9931379" y="4962194"/>
              <a:ext cx="554960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 err="1">
                  <a:latin typeface="Arial" panose="020B0604020202020204" pitchFamily="34" charset="0"/>
                  <a:cs typeface="Arial" panose="020B0604020202020204" pitchFamily="34" charset="0"/>
                </a:rPr>
                <a:t>PCoA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AE7F6CC-DF89-056B-0FB8-ABE1BBAA16E5}"/>
                </a:ext>
              </a:extLst>
            </p:cNvPr>
            <p:cNvSpPr txBox="1"/>
            <p:nvPr/>
          </p:nvSpPr>
          <p:spPr>
            <a:xfrm>
              <a:off x="9808449" y="6243951"/>
              <a:ext cx="931665" cy="430887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Hierarchical</a:t>
              </a:r>
            </a:p>
            <a:p>
              <a:pPr algn="ctr"/>
              <a:r>
                <a:rPr 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Cluster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169596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E8B60-A1F7-6EA0-5DE5-1652C6DA6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78C6-947B-D444-A02A-D64D53A92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Diversity Metrics: Beta</a:t>
            </a:r>
          </a:p>
        </p:txBody>
      </p:sp>
      <p:pic>
        <p:nvPicPr>
          <p:cNvPr id="5" name="Picture 4" descr="A diagram of a tree&#10;&#10;AI-generated content may be incorrect.">
            <a:extLst>
              <a:ext uri="{FF2B5EF4-FFF2-40B4-BE49-F238E27FC236}">
                <a16:creationId xmlns:a16="http://schemas.microsoft.com/office/drawing/2014/main" id="{600FE6FB-66E6-8138-6ABD-82724D539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9" t="21196" r="25663" b="-1"/>
          <a:stretch>
            <a:fillRect/>
          </a:stretch>
        </p:blipFill>
        <p:spPr>
          <a:xfrm>
            <a:off x="7454096" y="3996199"/>
            <a:ext cx="4421529" cy="19929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9626D7-2EF4-16D5-53BA-A506D776D50B}"/>
              </a:ext>
            </a:extLst>
          </p:cNvPr>
          <p:cNvSpPr txBox="1"/>
          <p:nvPr/>
        </p:nvSpPr>
        <p:spPr>
          <a:xfrm>
            <a:off x="838200" y="1690688"/>
            <a:ext cx="6070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Jaccard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features shared or not?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Bray-Curtis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abundance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the most abundant organisms in the community?</a:t>
            </a:r>
          </a:p>
          <a:p>
            <a:r>
              <a:rPr lang="en-US" sz="2400" b="1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Unweighted-Unifrac</a:t>
            </a:r>
            <a:r>
              <a:rPr lang="en-US" sz="2400" dirty="0">
                <a:solidFill>
                  <a:schemeClr val="tx1">
                    <a:alpha val="3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Weighted-Unifrac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community dissimilarity + phylogenetic relationships + abundance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D55C2C-ADEC-AF7F-0C1B-1693AD1B0AF9}"/>
              </a:ext>
            </a:extLst>
          </p:cNvPr>
          <p:cNvSpPr txBox="1"/>
          <p:nvPr/>
        </p:nvSpPr>
        <p:spPr>
          <a:xfrm>
            <a:off x="7824486" y="3605191"/>
            <a:ext cx="1402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Unweighted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B0F317-24C0-D3E3-47F2-72EE9E20C5F3}"/>
              </a:ext>
            </a:extLst>
          </p:cNvPr>
          <p:cNvSpPr txBox="1"/>
          <p:nvPr/>
        </p:nvSpPr>
        <p:spPr>
          <a:xfrm>
            <a:off x="9800267" y="3051193"/>
            <a:ext cx="2005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Branch lengths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weighted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by abundance</a:t>
            </a:r>
          </a:p>
        </p:txBody>
      </p:sp>
    </p:spTree>
    <p:extLst>
      <p:ext uri="{BB962C8B-B14F-4D97-AF65-F5344CB8AC3E}">
        <p14:creationId xmlns:p14="http://schemas.microsoft.com/office/powerpoint/2010/main" val="4065936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6E9AF4-9478-E30B-3F42-C22234B5C09A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D8E082D-A09E-B9BA-7A66-F1EB8AD93828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C229667-2B25-915B-A939-527F1F24328D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1E3373F4-F780-B405-380F-6277523B010C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8585749-3213-24DF-76F8-A4FFA9B88B23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F57C827-F004-ACF3-E307-870755515FBB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0880892-C03F-CA0E-7FBD-A7E86CF8B003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7DDDE069-741C-2624-E30E-F5D906142FEB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30C0BC6-ACC8-DAC5-1B12-FAF0DC5B76EE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9625BDD-F357-6D2C-9BF3-30A230AFFFFF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77B889E-916C-8D6D-E916-06811BE9DB3A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0A14AC3-2764-2BA8-38A4-1BF4F9026A4C}"/>
              </a:ext>
            </a:extLst>
          </p:cNvPr>
          <p:cNvSpPr/>
          <p:nvPr/>
        </p:nvSpPr>
        <p:spPr>
          <a:xfrm>
            <a:off x="956930" y="1650291"/>
            <a:ext cx="10845210" cy="42933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7912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324E7-FD73-D7C7-B381-9BCA50FA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1F550-2B5C-A020-CDAE-5A404C5E8103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2CF1843-5D7C-2B00-8E95-44ED87E5E196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6CB7590-8B19-ED58-5E37-AD1E6D1EBE4C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AAF02AF7-264C-74AB-D940-C40F54B86635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7D27B75-4D39-7920-1630-A058659F170F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A248BA8-A68B-7258-9AE2-4D55D4531537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5ECEBAA-2696-BF0B-C38D-5D4517E3E3C5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2A04A4B7-BE7C-D04D-E990-F5C8DE8862ED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542AAC-7617-5F74-EF06-919065FFCC9F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FBF1A020-16FE-B9B6-0123-59DA86C66D6E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FF62187-E6A4-A15A-0B08-D819BFB2D029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11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6AF72-79E8-54BA-48AD-CE0597387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E9D41A-6575-A489-9F61-75F993DFE8F3}"/>
              </a:ext>
            </a:extLst>
          </p:cNvPr>
          <p:cNvSpPr txBox="1"/>
          <p:nvPr/>
        </p:nvSpPr>
        <p:spPr>
          <a:xfrm>
            <a:off x="3809687" y="265296"/>
            <a:ext cx="457262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Two non-parametric tests to assess diversity in qiime2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BA08FAA-F38B-6F90-699A-09FD3970C7A8}"/>
              </a:ext>
            </a:extLst>
          </p:cNvPr>
          <p:cNvCxnSpPr>
            <a:cxnSpLocks/>
          </p:cNvCxnSpPr>
          <p:nvPr/>
        </p:nvCxnSpPr>
        <p:spPr>
          <a:xfrm flipH="1">
            <a:off x="4827181" y="1724705"/>
            <a:ext cx="1268819" cy="1560761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F8EDE3-881D-D78B-3149-3848AEB4B360}"/>
              </a:ext>
            </a:extLst>
          </p:cNvPr>
          <p:cNvGrpSpPr/>
          <p:nvPr/>
        </p:nvGrpSpPr>
        <p:grpSpPr>
          <a:xfrm>
            <a:off x="1325525" y="3808686"/>
            <a:ext cx="3501656" cy="1650855"/>
            <a:chOff x="1325525" y="3075034"/>
            <a:chExt cx="3501656" cy="1650855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8D279EFE-E784-A359-3FFD-559BFA4FEEA3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solidFill>
              <a:schemeClr val="accent6">
                <a:lumMod val="75000"/>
                <a:alpha val="10000"/>
              </a:schemeClr>
            </a:solidFill>
            <a:ln w="28575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BDBADE6-636E-64D7-7521-CE4F9C8CB200}"/>
                </a:ext>
              </a:extLst>
            </p:cNvPr>
            <p:cNvSpPr txBox="1"/>
            <p:nvPr/>
          </p:nvSpPr>
          <p:spPr>
            <a:xfrm>
              <a:off x="2013498" y="3669629"/>
              <a:ext cx="21257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Kruskal-Wallis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B9750A5-FA92-3714-2965-D66E20CF9B57}"/>
              </a:ext>
            </a:extLst>
          </p:cNvPr>
          <p:cNvSpPr txBox="1"/>
          <p:nvPr/>
        </p:nvSpPr>
        <p:spPr>
          <a:xfrm>
            <a:off x="1863521" y="3347021"/>
            <a:ext cx="2425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Alpha Diversity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708B751-BC89-DFD6-6C27-D4E047B96A27}"/>
              </a:ext>
            </a:extLst>
          </p:cNvPr>
          <p:cNvGrpSpPr/>
          <p:nvPr/>
        </p:nvGrpSpPr>
        <p:grpSpPr>
          <a:xfrm>
            <a:off x="6676846" y="3821543"/>
            <a:ext cx="3501656" cy="1650855"/>
            <a:chOff x="1325525" y="3075034"/>
            <a:chExt cx="3501656" cy="1650855"/>
          </a:xfrm>
          <a:solidFill>
            <a:schemeClr val="tx2">
              <a:lumMod val="50000"/>
              <a:lumOff val="50000"/>
              <a:alpha val="10000"/>
            </a:schemeClr>
          </a:solidFill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F71631F-84DF-FC83-81AD-E2AB5D0FFF8F}"/>
                </a:ext>
              </a:extLst>
            </p:cNvPr>
            <p:cNvSpPr/>
            <p:nvPr/>
          </p:nvSpPr>
          <p:spPr>
            <a:xfrm>
              <a:off x="1325525" y="3075034"/>
              <a:ext cx="3501656" cy="1650855"/>
            </a:xfrm>
            <a:prstGeom prst="roundRect">
              <a:avLst/>
            </a:prstGeom>
            <a:grpFill/>
            <a:ln w="28575">
              <a:solidFill>
                <a:schemeClr val="tx2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B70ED1-9960-E931-87E1-4EF56059FD7C}"/>
                </a:ext>
              </a:extLst>
            </p:cNvPr>
            <p:cNvSpPr txBox="1"/>
            <p:nvPr/>
          </p:nvSpPr>
          <p:spPr>
            <a:xfrm>
              <a:off x="2033440" y="3484963"/>
              <a:ext cx="208582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Permutational</a:t>
              </a:r>
            </a:p>
            <a:p>
              <a:pPr algn="ctr"/>
              <a:r>
                <a:rPr lang="en-US" sz="24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MANOVA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2F83AE2D-1F39-C434-689A-C31151854A68}"/>
              </a:ext>
            </a:extLst>
          </p:cNvPr>
          <p:cNvSpPr txBox="1"/>
          <p:nvPr/>
        </p:nvSpPr>
        <p:spPr>
          <a:xfrm>
            <a:off x="7307816" y="3359878"/>
            <a:ext cx="22397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Beta Diversity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091434-B95F-7C44-88B9-322043E05A9C}"/>
              </a:ext>
            </a:extLst>
          </p:cNvPr>
          <p:cNvCxnSpPr>
            <a:cxnSpLocks/>
          </p:cNvCxnSpPr>
          <p:nvPr/>
        </p:nvCxnSpPr>
        <p:spPr>
          <a:xfrm>
            <a:off x="6096000" y="1724704"/>
            <a:ext cx="1268819" cy="1560761"/>
          </a:xfrm>
          <a:prstGeom prst="straightConnector1">
            <a:avLst/>
          </a:prstGeom>
          <a:ln w="38100">
            <a:solidFill>
              <a:schemeClr val="tx2">
                <a:lumMod val="75000"/>
                <a:lumOff val="2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A55D13D-6C38-0AAD-CAA8-C66A40E18DF1}"/>
              </a:ext>
            </a:extLst>
          </p:cNvPr>
          <p:cNvSpPr txBox="1"/>
          <p:nvPr/>
        </p:nvSpPr>
        <p:spPr>
          <a:xfrm>
            <a:off x="7863829" y="1447944"/>
            <a:ext cx="3821353" cy="1328023"/>
          </a:xfrm>
          <a:prstGeom prst="roundRect">
            <a:avLst/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NOTE: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For comparisons of &gt; 2 groups correct for multiple tests</a:t>
            </a:r>
          </a:p>
        </p:txBody>
      </p:sp>
    </p:spTree>
    <p:extLst>
      <p:ext uri="{BB962C8B-B14F-4D97-AF65-F5344CB8AC3E}">
        <p14:creationId xmlns:p14="http://schemas.microsoft.com/office/powerpoint/2010/main" val="16965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1208</Words>
  <Application>Microsoft Macintosh PowerPoint</Application>
  <PresentationFormat>Widescreen</PresentationFormat>
  <Paragraphs>251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Aptos</vt:lpstr>
      <vt:lpstr>Aptos Display</vt:lpstr>
      <vt:lpstr>Arial</vt:lpstr>
      <vt:lpstr>Courier New</vt:lpstr>
      <vt:lpstr>Wingdings</vt:lpstr>
      <vt:lpstr>Office Theme</vt:lpstr>
      <vt:lpstr>Lecture:  Taxonomy, alignment, phylogeny, diversity metrics</vt:lpstr>
      <vt:lpstr>Overview</vt:lpstr>
      <vt:lpstr>Overview</vt:lpstr>
      <vt:lpstr>Overview</vt:lpstr>
      <vt:lpstr>Overview</vt:lpstr>
      <vt:lpstr>Taxonomic annotation of ASVs</vt:lpstr>
      <vt:lpstr>Taxonomic annotation of ASVs</vt:lpstr>
      <vt:lpstr>Taxonomic annotation of ASVs</vt:lpstr>
      <vt:lpstr>Taxonomic annotation of ASVs</vt:lpstr>
      <vt:lpstr>Taxonomic annotation of ASVs</vt:lpstr>
      <vt:lpstr>Taxonomic annotation of ASVs</vt:lpstr>
      <vt:lpstr>Taxonomic annotation of ASVs</vt:lpstr>
      <vt:lpstr>Sequence alignment and masking</vt:lpstr>
      <vt:lpstr>Constructing phylogeny of microbial sequences</vt:lpstr>
      <vt:lpstr>Constructing phylogeny of microbial sequences</vt:lpstr>
      <vt:lpstr>Constructing phylogeny of microbial sequences</vt:lpstr>
      <vt:lpstr>Diversity Metrics: Alpha</vt:lpstr>
      <vt:lpstr>Diversity Metrics: Alpha</vt:lpstr>
      <vt:lpstr>Diversity Metrics: Alpha</vt:lpstr>
      <vt:lpstr>Diversity Metrics: Alpha</vt:lpstr>
      <vt:lpstr>Diversity Metrics: Alpha</vt:lpstr>
      <vt:lpstr>Diversity Metrics: Beta</vt:lpstr>
      <vt:lpstr>Diversity Metrics: Beta</vt:lpstr>
      <vt:lpstr>Diversity Metrics: Beta</vt:lpstr>
      <vt:lpstr>Diversity Metrics: Beta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Sierra Smith</dc:creator>
  <cp:lastModifiedBy>Sierra Smith</cp:lastModifiedBy>
  <cp:revision>36</cp:revision>
  <dcterms:created xsi:type="dcterms:W3CDTF">2026-02-17T17:32:28Z</dcterms:created>
  <dcterms:modified xsi:type="dcterms:W3CDTF">2026-02-26T17:40:56Z</dcterms:modified>
</cp:coreProperties>
</file>